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onument Bold" charset="1" panose="00000300000000000000"/>
      <p:regular r:id="rId21"/>
    </p:embeddedFont>
    <p:embeddedFont>
      <p:font typeface="Rotis Sans Serif" charset="1" panose="020B0503030202020304"/>
      <p:regular r:id="rId22"/>
    </p:embeddedFont>
    <p:embeddedFont>
      <p:font typeface="Rotis Sans Serif Bold" charset="1" panose="020B0803030202020304"/>
      <p:regular r:id="rId23"/>
    </p:embeddedFont>
    <p:embeddedFont>
      <p:font typeface="Monument" charset="1" panose="00000300000000000000"/>
      <p:regular r:id="rId28"/>
    </p:embeddedFont>
    <p:embeddedFont>
      <p:font typeface="Baloo" charset="1" panose="030809020403020202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Buenos días a todos, profesores y compañeros. Hoy les presentamos CampusFood, una plataforma web orientada a la gestión integral del casino y cafetería de nuestro campus. Nuestro objetivo es optimizar las compras rápidas, centralizar la información gastronómica y fomentar la participación estudiantil. El equipo está integrado por Raquel Rehbein, Martina González y quien les habla, Ella Zampeze.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*"Para entender la necesidad de este proyecto, identificamos tres problemas críticos que afectan a la comunidad diariamente:  Filas y espera prolongada: Estudiantes y funcionarios pierden tiempo valioso en filas masivas solo para comprar productos envasados que no requieren preparación previa.  Información descentralizada: Actualmente no existe un canal digital para conocer el menú del día; las personas deben trasladarse físicamente al casino solo para consultar las opciones.  Planificación a ciegas: La administración del casino no cuenta con herramientas digitales para recopilar las preferencias de los usuarios, lo que dificulta estimar la demanda real."*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*"Frente a este escenario nace CampusFood, una solución web integral diseñada sobre tres ejes:  Catálogo Semanal: Un módulo donde la comunidad puede consultar con anticipación los platos diarios, acompañamientos e información nutricional.  Compra Rápida Express: Permite pedir y pagar productos envasados desde el celular para un retiro inmediato, eliminando las filas.  Módulo de Votaciones: Una herramienta participativa para que los estudiantes voten por sus alternativas de almuerzo favoritas y ayuden a planificar la producción."* 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"El sistema se compone de dos grandes portales:  Por un lado, el Portal de Estudiantes y Funcionarios, donde el usuario navega el catálogo semanal, gestiona su carrito para compras exprés y participa en las votaciones.  Por otro lado, el Panel de Administración del Casino, que le permite al personal publicar y modificar el menú, controlar el flujo de pedidos hasta el retiro y visualizar métricas en tiempo real de las encuestas activas.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*"El diseño y desarrollo de CampusFood está alineado con cuatro competencias clave de la carrera:  C1 - Pruebas y Calidad: Garantizaremos el correcto funcionamiento mediante pruebas unitarias y de integración.  C2 - Gestión de Proyectos: Utilizaremos metodologías ágiles para controlar entregas e hitos.  C3 - Modelado de Datos: Diseñaremos un modelo relacional escalable para la gestión de usuarios, pedidos y menús.  C4 - Desarrollo de Software: Construiremos una arquitectura Full-Stack modular orientada a la mantenibilidad."*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"Para estructurar el proyecto, nos trazamos 5 objetivos específicos:  Primero, diseñar e implementar la arquitectura Full-Stack de la plataforma.  Segundo, desarrollar el módulo de compra rápida express.  Tercero, construir el modelo de datos relacional que soporte la operativa.  Cuarto, implementar el módulo de votaciones y encuestas.  Y quinto, diseñar y ejecutar el plan de pruebas unitarias, de integración y de aceptación." 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*"En el plano técnico, la arquitectura se compone de un Frontend para los usuarios, un Backend con las reglas de negocio y API, un Panel Administrativo y el corazón del sistema: la Base de Datos Relacional.  Esta base de datos estructura cuatro entidades principales:  Usuarios y roles para la autenticación.  Menú y platos con sus detalles y precios.  Pedidos e historia de estados para la trazabilidad.  Encuestas y votos para registrar las preferencias."* 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"Para el flujo de trabajo adoptamos la metodología Scrum:  Iniciamos con el Sprint Planning definiendo el Product Backlog e historias de usuario.  Trabajamos en Sprints de 2 semanas para generar incrementos de software verificables, los cuales evaluamos mediante Sprint Reviews. Todo esto soportado en un repositorio de GitHub con trazabilidad completa y control estricto de commits."  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"Nuestro cronograma contempla 18 semanas estructuradas en tres fases:  En la Fase 1 nos enfocamos en el levantamiento, requerimientos y diseño inicial.  Durante la Fase 2 abordamos la implementación de la base de datos, el catálogo y la compra rápida.  Y en la Fase 3 integramos el módulo administrativo, el sistema de votaciones, realizamos la fase intensiva de pruebas y estabilizamos el sistema para la entrega final." 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"Las evidencias y entregables se dividen según las fases del proyecto:  En esta Fase 1, entregamos la documentación de requerimientos, diseño inicial y esta presentación.  En la Fase 2, presentaremos el modelo relacional con sus scripts y el MVP funcional con catálogo y compras.  Y en la Fase 3, la aplicación terminada en su totalidad con el panel de administración, el sistema de votaciones y la planificación final."  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"Analizando la factibilidad del proyecto, destacamos a favor que es un problema directamente observable en nuestro entorno, 100% software, por lo que no requiere equipamiento físico adicional y se desarrolla de forma modular.  Como posibles riesgos identificamos la disponibilidad del personal del casino o tiempos acotados de desarrollo. Para mitigarlo, utilizaremos datos simulados si es necesario durante el modelado e iteraremos priorizando las funcionalidades principales como MVP."  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"Muchas gracias por su atención. Quedamos a disposición de la comisión para responder sus preguntas y recibir sus comentarios para enriquecer este proyecto."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1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jpe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.pn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pn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.pn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1.png" Type="http://schemas.openxmlformats.org/officeDocument/2006/relationships/image"/><Relationship Id="rId6" Target="../embeddings/oleObject1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pn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1357" y="1503291"/>
            <a:ext cx="8075295" cy="8229600"/>
          </a:xfrm>
          <a:custGeom>
            <a:avLst/>
            <a:gdLst/>
            <a:ahLst/>
            <a:cxnLst/>
            <a:rect r="r" b="b" t="t" l="l"/>
            <a:pathLst>
              <a:path h="8229600" w="8075295">
                <a:moveTo>
                  <a:pt x="0" y="0"/>
                </a:moveTo>
                <a:lnTo>
                  <a:pt x="8075295" y="0"/>
                </a:lnTo>
                <a:lnTo>
                  <a:pt x="807529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350891"/>
            <a:ext cx="8075295" cy="8229600"/>
          </a:xfrm>
          <a:custGeom>
            <a:avLst/>
            <a:gdLst/>
            <a:ahLst/>
            <a:cxnLst/>
            <a:rect r="r" b="b" t="t" l="l"/>
            <a:pathLst>
              <a:path h="8229600" w="8075295">
                <a:moveTo>
                  <a:pt x="0" y="0"/>
                </a:moveTo>
                <a:lnTo>
                  <a:pt x="8075295" y="0"/>
                </a:lnTo>
                <a:lnTo>
                  <a:pt x="807529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78712" y="-803853"/>
            <a:ext cx="11530575" cy="11559474"/>
          </a:xfrm>
          <a:custGeom>
            <a:avLst/>
            <a:gdLst/>
            <a:ahLst/>
            <a:cxnLst/>
            <a:rect r="r" b="b" t="t" l="l"/>
            <a:pathLst>
              <a:path h="11559474" w="11530575">
                <a:moveTo>
                  <a:pt x="0" y="0"/>
                </a:moveTo>
                <a:lnTo>
                  <a:pt x="11530576" y="0"/>
                </a:lnTo>
                <a:lnTo>
                  <a:pt x="11530576" y="11559474"/>
                </a:lnTo>
                <a:lnTo>
                  <a:pt x="0" y="11559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44687" y="3927975"/>
            <a:ext cx="15598626" cy="2223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32"/>
              </a:lnSpc>
            </a:pPr>
            <a:r>
              <a:rPr lang="en-US" sz="12951">
                <a:solidFill>
                  <a:srgbClr val="373434"/>
                </a:solidFill>
                <a:latin typeface="Monument Bold"/>
                <a:ea typeface="Monument Bold"/>
                <a:cs typeface="Monument Bold"/>
                <a:sym typeface="Monument Bold"/>
              </a:rPr>
              <a:t>CAMPUSFOOD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13131" y="6404577"/>
            <a:ext cx="9562892" cy="980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29"/>
              </a:lnSpc>
              <a:spcBef>
                <a:spcPct val="0"/>
              </a:spcBef>
            </a:pPr>
            <a:r>
              <a:rPr lang="en-US" sz="2664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Plataf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orm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web 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p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ara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l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ge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s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t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ón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d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e 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inf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or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m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aci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ó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n 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d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el 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c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asi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no,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op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t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im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za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ci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ón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d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e co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mp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ra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s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r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áp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da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s e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n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c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fe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ter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í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y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par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tici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pac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ó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n es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t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ud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n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t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il</a:t>
            </a:r>
            <a:r>
              <a:rPr lang="en-US" sz="2664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2508068" y="1189796"/>
            <a:ext cx="7315200" cy="484632"/>
          </a:xfrm>
          <a:custGeom>
            <a:avLst/>
            <a:gdLst/>
            <a:ahLst/>
            <a:cxnLst/>
            <a:rect r="r" b="b" t="t" l="l"/>
            <a:pathLst>
              <a:path h="484632" w="7315200">
                <a:moveTo>
                  <a:pt x="0" y="0"/>
                </a:moveTo>
                <a:lnTo>
                  <a:pt x="7315200" y="0"/>
                </a:lnTo>
                <a:lnTo>
                  <a:pt x="7315200" y="484632"/>
                </a:lnTo>
                <a:lnTo>
                  <a:pt x="0" y="4846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3480868" y="8612572"/>
            <a:ext cx="7315200" cy="484632"/>
          </a:xfrm>
          <a:custGeom>
            <a:avLst/>
            <a:gdLst/>
            <a:ahLst/>
            <a:cxnLst/>
            <a:rect r="r" b="b" t="t" l="l"/>
            <a:pathLst>
              <a:path h="484632" w="7315200">
                <a:moveTo>
                  <a:pt x="0" y="0"/>
                </a:moveTo>
                <a:lnTo>
                  <a:pt x="7315200" y="0"/>
                </a:lnTo>
                <a:lnTo>
                  <a:pt x="7315200" y="484632"/>
                </a:lnTo>
                <a:lnTo>
                  <a:pt x="0" y="4846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322549" y="8791755"/>
            <a:ext cx="9562892" cy="83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9"/>
              </a:lnSpc>
            </a:pPr>
            <a:r>
              <a:rPr lang="en-US" sz="2264" b="tru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Integrantes</a:t>
            </a:r>
          </a:p>
          <a:p>
            <a:pPr algn="ctr" marL="0" indent="0" lvl="0">
              <a:lnSpc>
                <a:spcPts val="3169"/>
              </a:lnSpc>
              <a:spcBef>
                <a:spcPct val="0"/>
              </a:spcBef>
            </a:pPr>
            <a:r>
              <a:rPr lang="en-US" sz="2264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Raquel Rehbein B. • Martina González R. • Ella Zampeze V.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39911" y="2285968"/>
            <a:ext cx="10380376" cy="10406392"/>
          </a:xfrm>
          <a:custGeom>
            <a:avLst/>
            <a:gdLst/>
            <a:ahLst/>
            <a:cxnLst/>
            <a:rect r="r" b="b" t="t" l="l"/>
            <a:pathLst>
              <a:path h="10406392" w="10380376">
                <a:moveTo>
                  <a:pt x="0" y="0"/>
                </a:moveTo>
                <a:lnTo>
                  <a:pt x="10380376" y="0"/>
                </a:lnTo>
                <a:lnTo>
                  <a:pt x="10380376" y="10406392"/>
                </a:lnTo>
                <a:lnTo>
                  <a:pt x="0" y="10406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17693" y="-3505965"/>
            <a:ext cx="10459122" cy="10658977"/>
          </a:xfrm>
          <a:custGeom>
            <a:avLst/>
            <a:gdLst/>
            <a:ahLst/>
            <a:cxnLst/>
            <a:rect r="r" b="b" t="t" l="l"/>
            <a:pathLst>
              <a:path h="10658977" w="10459122">
                <a:moveTo>
                  <a:pt x="0" y="0"/>
                </a:moveTo>
                <a:lnTo>
                  <a:pt x="10459122" y="0"/>
                </a:lnTo>
                <a:lnTo>
                  <a:pt x="10459122" y="10658977"/>
                </a:lnTo>
                <a:lnTo>
                  <a:pt x="0" y="10658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144000" y="1124989"/>
            <a:ext cx="10762133" cy="1417014"/>
          </a:xfrm>
          <a:custGeom>
            <a:avLst/>
            <a:gdLst/>
            <a:ahLst/>
            <a:cxnLst/>
            <a:rect r="r" b="b" t="t" l="l"/>
            <a:pathLst>
              <a:path h="1417014" w="10762133">
                <a:moveTo>
                  <a:pt x="10762133" y="0"/>
                </a:moveTo>
                <a:lnTo>
                  <a:pt x="0" y="0"/>
                </a:lnTo>
                <a:lnTo>
                  <a:pt x="0" y="1417015"/>
                </a:lnTo>
                <a:lnTo>
                  <a:pt x="10762133" y="1417015"/>
                </a:lnTo>
                <a:lnTo>
                  <a:pt x="1076213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5143" y="3599457"/>
            <a:ext cx="6650944" cy="4422878"/>
          </a:xfrm>
          <a:custGeom>
            <a:avLst/>
            <a:gdLst/>
            <a:ahLst/>
            <a:cxnLst/>
            <a:rect r="r" b="b" t="t" l="l"/>
            <a:pathLst>
              <a:path h="4422878" w="6650944">
                <a:moveTo>
                  <a:pt x="0" y="0"/>
                </a:moveTo>
                <a:lnTo>
                  <a:pt x="6650945" y="0"/>
                </a:lnTo>
                <a:lnTo>
                  <a:pt x="6650945" y="4422878"/>
                </a:lnTo>
                <a:lnTo>
                  <a:pt x="0" y="44228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4762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607142" y="1189384"/>
            <a:ext cx="8210551" cy="962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73"/>
              </a:lnSpc>
              <a:spcBef>
                <a:spcPct val="0"/>
              </a:spcBef>
            </a:pPr>
            <a:r>
              <a:rPr lang="en-US" sz="5624">
                <a:solidFill>
                  <a:srgbClr val="373434"/>
                </a:solidFill>
                <a:latin typeface="Monument Bold"/>
                <a:ea typeface="Monument Bold"/>
                <a:cs typeface="Monument Bold"/>
                <a:sym typeface="Monument Bold"/>
              </a:rPr>
              <a:t>PROBLEMATICA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75456" y="3013002"/>
            <a:ext cx="7428935" cy="5864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  <a:r>
              <a:rPr lang="en-US" sz="2743" b="tru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F</a:t>
            </a:r>
            <a:r>
              <a:rPr lang="en-US" sz="2743" b="tru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ilas y Espera Prolongada:</a:t>
            </a:r>
          </a:p>
          <a:p>
            <a:pPr algn="l" marL="592231" indent="-296115" lvl="1">
              <a:lnSpc>
                <a:spcPts val="3840"/>
              </a:lnSpc>
              <a:buFont typeface="Arial"/>
              <a:buChar char="•"/>
            </a:pPr>
            <a:r>
              <a:rPr lang="en-US" sz="2743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Filas masivas en cafetería para adquirir productos envasados sin preparación previa.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  <a:r>
              <a:rPr lang="en-US" sz="2743" b="tru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Información Descentralizada:</a:t>
            </a:r>
          </a:p>
          <a:p>
            <a:pPr algn="l" marL="592231" indent="-296115" lvl="1">
              <a:lnSpc>
                <a:spcPts val="3840"/>
              </a:lnSpc>
              <a:buFont typeface="Arial"/>
              <a:buChar char="•"/>
            </a:pPr>
            <a:r>
              <a:rPr lang="en-US" sz="2743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Necesidad de traslado físico al casino para consultar el menú diario disponible.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  <a:r>
              <a:rPr lang="en-US" sz="2743" b="tru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Planificación a Ciegas:</a:t>
            </a:r>
          </a:p>
          <a:p>
            <a:pPr algn="l" marL="592231" indent="-296115" lvl="1">
              <a:lnSpc>
                <a:spcPts val="3840"/>
              </a:lnSpc>
              <a:buFont typeface="Arial"/>
              <a:buChar char="•"/>
            </a:pPr>
            <a:r>
              <a:rPr lang="en-US" sz="2743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Ausencia de mecanismos para recopilar preferencias gastronómicas de la comunidad.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84154" y="3117057"/>
            <a:ext cx="10459122" cy="10658977"/>
          </a:xfrm>
          <a:custGeom>
            <a:avLst/>
            <a:gdLst/>
            <a:ahLst/>
            <a:cxnLst/>
            <a:rect r="r" b="b" t="t" l="l"/>
            <a:pathLst>
              <a:path h="10658977" w="10459122">
                <a:moveTo>
                  <a:pt x="0" y="0"/>
                </a:moveTo>
                <a:lnTo>
                  <a:pt x="10459121" y="0"/>
                </a:lnTo>
                <a:lnTo>
                  <a:pt x="10459121" y="10658977"/>
                </a:lnTo>
                <a:lnTo>
                  <a:pt x="0" y="106589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08339" y="1336877"/>
            <a:ext cx="11530575" cy="11559474"/>
          </a:xfrm>
          <a:custGeom>
            <a:avLst/>
            <a:gdLst/>
            <a:ahLst/>
            <a:cxnLst/>
            <a:rect r="r" b="b" t="t" l="l"/>
            <a:pathLst>
              <a:path h="11559474" w="11530575">
                <a:moveTo>
                  <a:pt x="0" y="0"/>
                </a:moveTo>
                <a:lnTo>
                  <a:pt x="11530575" y="0"/>
                </a:lnTo>
                <a:lnTo>
                  <a:pt x="11530575" y="11559474"/>
                </a:lnTo>
                <a:lnTo>
                  <a:pt x="0" y="11559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19201" y="3833598"/>
            <a:ext cx="6682984" cy="3283016"/>
          </a:xfrm>
          <a:custGeom>
            <a:avLst/>
            <a:gdLst/>
            <a:ahLst/>
            <a:cxnLst/>
            <a:rect r="r" b="b" t="t" l="l"/>
            <a:pathLst>
              <a:path h="3283016" w="6682984">
                <a:moveTo>
                  <a:pt x="0" y="0"/>
                </a:moveTo>
                <a:lnTo>
                  <a:pt x="6682984" y="0"/>
                </a:lnTo>
                <a:lnTo>
                  <a:pt x="6682984" y="3283016"/>
                </a:lnTo>
                <a:lnTo>
                  <a:pt x="0" y="32830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34421" y="-5074861"/>
            <a:ext cx="11530575" cy="11559474"/>
          </a:xfrm>
          <a:custGeom>
            <a:avLst/>
            <a:gdLst/>
            <a:ahLst/>
            <a:cxnLst/>
            <a:rect r="r" b="b" t="t" l="l"/>
            <a:pathLst>
              <a:path h="11559474" w="11530575">
                <a:moveTo>
                  <a:pt x="0" y="0"/>
                </a:moveTo>
                <a:lnTo>
                  <a:pt x="11530575" y="0"/>
                </a:lnTo>
                <a:lnTo>
                  <a:pt x="11530575" y="11559474"/>
                </a:lnTo>
                <a:lnTo>
                  <a:pt x="0" y="11559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20459" y="7003984"/>
            <a:ext cx="6682984" cy="3283016"/>
          </a:xfrm>
          <a:custGeom>
            <a:avLst/>
            <a:gdLst/>
            <a:ahLst/>
            <a:cxnLst/>
            <a:rect r="r" b="b" t="t" l="l"/>
            <a:pathLst>
              <a:path h="3283016" w="6682984">
                <a:moveTo>
                  <a:pt x="0" y="0"/>
                </a:moveTo>
                <a:lnTo>
                  <a:pt x="6682984" y="0"/>
                </a:lnTo>
                <a:lnTo>
                  <a:pt x="6682984" y="3283016"/>
                </a:lnTo>
                <a:lnTo>
                  <a:pt x="0" y="32830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30280" y="-3542363"/>
            <a:ext cx="10459122" cy="10658977"/>
          </a:xfrm>
          <a:custGeom>
            <a:avLst/>
            <a:gdLst/>
            <a:ahLst/>
            <a:cxnLst/>
            <a:rect r="r" b="b" t="t" l="l"/>
            <a:pathLst>
              <a:path h="10658977" w="10459122">
                <a:moveTo>
                  <a:pt x="0" y="0"/>
                </a:moveTo>
                <a:lnTo>
                  <a:pt x="10459122" y="0"/>
                </a:lnTo>
                <a:lnTo>
                  <a:pt x="10459122" y="10658977"/>
                </a:lnTo>
                <a:lnTo>
                  <a:pt x="0" y="106589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11804" y="3833598"/>
            <a:ext cx="6682984" cy="3283016"/>
          </a:xfrm>
          <a:custGeom>
            <a:avLst/>
            <a:gdLst/>
            <a:ahLst/>
            <a:cxnLst/>
            <a:rect r="r" b="b" t="t" l="l"/>
            <a:pathLst>
              <a:path h="3283016" w="6682984">
                <a:moveTo>
                  <a:pt x="0" y="0"/>
                </a:moveTo>
                <a:lnTo>
                  <a:pt x="6682984" y="0"/>
                </a:lnTo>
                <a:lnTo>
                  <a:pt x="6682984" y="3283016"/>
                </a:lnTo>
                <a:lnTo>
                  <a:pt x="0" y="32830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782363" y="7782566"/>
            <a:ext cx="435428" cy="435428"/>
          </a:xfrm>
          <a:custGeom>
            <a:avLst/>
            <a:gdLst/>
            <a:ahLst/>
            <a:cxnLst/>
            <a:rect r="r" b="b" t="t" l="l"/>
            <a:pathLst>
              <a:path h="435428" w="435428">
                <a:moveTo>
                  <a:pt x="0" y="0"/>
                </a:moveTo>
                <a:lnTo>
                  <a:pt x="435428" y="0"/>
                </a:lnTo>
                <a:lnTo>
                  <a:pt x="435428" y="435428"/>
                </a:lnTo>
                <a:lnTo>
                  <a:pt x="0" y="4354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544197" y="4427213"/>
            <a:ext cx="479912" cy="716287"/>
          </a:xfrm>
          <a:custGeom>
            <a:avLst/>
            <a:gdLst/>
            <a:ahLst/>
            <a:cxnLst/>
            <a:rect r="r" b="b" t="t" l="l"/>
            <a:pathLst>
              <a:path h="716287" w="479912">
                <a:moveTo>
                  <a:pt x="0" y="0"/>
                </a:moveTo>
                <a:lnTo>
                  <a:pt x="479913" y="0"/>
                </a:lnTo>
                <a:lnTo>
                  <a:pt x="479913" y="716287"/>
                </a:lnTo>
                <a:lnTo>
                  <a:pt x="0" y="7162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384300" y="4545148"/>
            <a:ext cx="511082" cy="480417"/>
          </a:xfrm>
          <a:custGeom>
            <a:avLst/>
            <a:gdLst/>
            <a:ahLst/>
            <a:cxnLst/>
            <a:rect r="r" b="b" t="t" l="l"/>
            <a:pathLst>
              <a:path h="480417" w="511082">
                <a:moveTo>
                  <a:pt x="0" y="0"/>
                </a:moveTo>
                <a:lnTo>
                  <a:pt x="511082" y="0"/>
                </a:lnTo>
                <a:lnTo>
                  <a:pt x="511082" y="480417"/>
                </a:lnTo>
                <a:lnTo>
                  <a:pt x="0" y="4804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85815" y="1682351"/>
            <a:ext cx="14516371" cy="1872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8"/>
              </a:lnSpc>
            </a:pPr>
            <a:r>
              <a:rPr lang="en-US" sz="5406">
                <a:solidFill>
                  <a:srgbClr val="373434"/>
                </a:solidFill>
                <a:latin typeface="Monument Bold"/>
                <a:ea typeface="Monument Bold"/>
                <a:cs typeface="Monument Bold"/>
                <a:sym typeface="Monument Bold"/>
              </a:rPr>
              <a:t>SOLUCION INTEGRAL: CAMPUSFOOD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9754" y="4499344"/>
            <a:ext cx="6647083" cy="1830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4"/>
              </a:lnSpc>
              <a:spcBef>
                <a:spcPct val="0"/>
              </a:spcBef>
            </a:pPr>
            <a:r>
              <a:rPr lang="en-US" b="true" sz="2553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Catálog</a:t>
            </a:r>
            <a:r>
              <a:rPr lang="en-US" b="true" sz="2553" strike="noStrike" u="non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o </a:t>
            </a:r>
            <a:r>
              <a:rPr lang="en-US" b="true" sz="2553" strike="noStrike" u="non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Se</a:t>
            </a:r>
            <a:r>
              <a:rPr lang="en-US" b="true" sz="2553" strike="noStrike" u="non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m</a:t>
            </a:r>
            <a:r>
              <a:rPr lang="en-US" b="true" sz="2553" strike="noStrike" u="non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anal</a:t>
            </a:r>
          </a:p>
          <a:p>
            <a:pPr algn="ctr">
              <a:lnSpc>
                <a:spcPts val="3574"/>
              </a:lnSpc>
              <a:spcBef>
                <a:spcPct val="0"/>
              </a:spcBef>
            </a:pPr>
          </a:p>
          <a:p>
            <a:pPr algn="ctr" marL="0" indent="0" lvl="1">
              <a:lnSpc>
                <a:spcPts val="3574"/>
              </a:lnSpc>
              <a:spcBef>
                <a:spcPct val="0"/>
              </a:spcBef>
            </a:pP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Mó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d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u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lo i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nfor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m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t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iv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 a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ntic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ip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ado 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c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n 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p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l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t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s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,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de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s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c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ri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p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c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ion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es 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y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acom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p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ñ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m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ientos d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iari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37152" y="4499344"/>
            <a:ext cx="6647083" cy="1830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4"/>
              </a:lnSpc>
              <a:spcBef>
                <a:spcPct val="0"/>
              </a:spcBef>
            </a:pPr>
            <a:r>
              <a:rPr lang="en-US" b="true" sz="2553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C</a:t>
            </a:r>
            <a:r>
              <a:rPr lang="en-US" b="true" sz="2553" strike="noStrike" u="non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ompr</a:t>
            </a:r>
            <a:r>
              <a:rPr lang="en-US" b="true" sz="2553" strike="noStrike" u="non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a</a:t>
            </a:r>
            <a:r>
              <a:rPr lang="en-US" b="true" sz="2553" strike="noStrike" u="non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 </a:t>
            </a:r>
            <a:r>
              <a:rPr lang="en-US" b="true" sz="2553" strike="noStrike" u="non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Ráp</a:t>
            </a:r>
            <a:r>
              <a:rPr lang="en-US" b="true" sz="2553" strike="noStrike" u="non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i</a:t>
            </a:r>
            <a:r>
              <a:rPr lang="en-US" b="true" sz="2553" strike="noStrike" u="non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da</a:t>
            </a:r>
            <a:r>
              <a:rPr lang="en-US" b="true" sz="2553" strike="noStrike" u="non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 </a:t>
            </a:r>
            <a:r>
              <a:rPr lang="en-US" b="true" sz="2553" strike="noStrike" u="non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Expr</a:t>
            </a:r>
            <a:r>
              <a:rPr lang="en-US" b="true" sz="2553" strike="noStrike" u="non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e</a:t>
            </a:r>
            <a:r>
              <a:rPr lang="en-US" b="true" sz="2553" strike="noStrike" u="non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s</a:t>
            </a:r>
            <a:r>
              <a:rPr lang="en-US" b="true" sz="2553" strike="noStrike" u="non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s</a:t>
            </a:r>
          </a:p>
          <a:p>
            <a:pPr algn="ctr">
              <a:lnSpc>
                <a:spcPts val="3574"/>
              </a:lnSpc>
              <a:spcBef>
                <a:spcPct val="0"/>
              </a:spcBef>
            </a:pPr>
          </a:p>
          <a:p>
            <a:pPr algn="ctr" marL="0" indent="0" lvl="1">
              <a:lnSpc>
                <a:spcPts val="3574"/>
              </a:lnSpc>
              <a:spcBef>
                <a:spcPct val="0"/>
              </a:spcBef>
            </a:pP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Adq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ui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s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ici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ó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n 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d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g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it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l 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d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e p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r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d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u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c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t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s e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nva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sa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do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s c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n 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c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nf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rma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ci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ó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n p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ara r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et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ir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 i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nmed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t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38409" y="7677791"/>
            <a:ext cx="6647083" cy="1830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4"/>
              </a:lnSpc>
              <a:spcBef>
                <a:spcPct val="0"/>
              </a:spcBef>
            </a:pPr>
            <a:r>
              <a:rPr lang="en-US" b="true" sz="2553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Módul</a:t>
            </a:r>
            <a:r>
              <a:rPr lang="en-US" b="true" sz="2553" strike="noStrike" u="non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o Vota</a:t>
            </a:r>
            <a:r>
              <a:rPr lang="en-US" b="true" sz="2553" strike="noStrike" u="non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cion</a:t>
            </a:r>
            <a:r>
              <a:rPr lang="en-US" b="true" sz="2553" strike="noStrike" u="non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es</a:t>
            </a:r>
          </a:p>
          <a:p>
            <a:pPr algn="ctr">
              <a:lnSpc>
                <a:spcPts val="3574"/>
              </a:lnSpc>
              <a:spcBef>
                <a:spcPct val="0"/>
              </a:spcBef>
            </a:pPr>
          </a:p>
          <a:p>
            <a:pPr algn="ctr" marL="0" indent="0" lvl="1">
              <a:lnSpc>
                <a:spcPts val="3574"/>
              </a:lnSpc>
              <a:spcBef>
                <a:spcPct val="0"/>
              </a:spcBef>
            </a:pP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Enc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ues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tas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estudia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nti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les par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elegir altern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ati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vas d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e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almuerzo y apoyar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l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 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g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esti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ó</a:t>
            </a:r>
            <a:r>
              <a:rPr lang="en-US" sz="2553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07624" y="1028700"/>
            <a:ext cx="10380376" cy="10406392"/>
          </a:xfrm>
          <a:custGeom>
            <a:avLst/>
            <a:gdLst/>
            <a:ahLst/>
            <a:cxnLst/>
            <a:rect r="r" b="b" t="t" l="l"/>
            <a:pathLst>
              <a:path h="10406392" w="10380376">
                <a:moveTo>
                  <a:pt x="0" y="0"/>
                </a:moveTo>
                <a:lnTo>
                  <a:pt x="10380376" y="0"/>
                </a:lnTo>
                <a:lnTo>
                  <a:pt x="10380376" y="10406392"/>
                </a:lnTo>
                <a:lnTo>
                  <a:pt x="0" y="10406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41092" y="808104"/>
            <a:ext cx="10380376" cy="10406392"/>
          </a:xfrm>
          <a:custGeom>
            <a:avLst/>
            <a:gdLst/>
            <a:ahLst/>
            <a:cxnLst/>
            <a:rect r="r" b="b" t="t" l="l"/>
            <a:pathLst>
              <a:path h="10406392" w="10380376">
                <a:moveTo>
                  <a:pt x="0" y="0"/>
                </a:moveTo>
                <a:lnTo>
                  <a:pt x="10380376" y="0"/>
                </a:lnTo>
                <a:lnTo>
                  <a:pt x="10380376" y="10406392"/>
                </a:lnTo>
                <a:lnTo>
                  <a:pt x="0" y="10406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2302" y="2585444"/>
            <a:ext cx="5770281" cy="6204603"/>
          </a:xfrm>
          <a:custGeom>
            <a:avLst/>
            <a:gdLst/>
            <a:ahLst/>
            <a:cxnLst/>
            <a:rect r="r" b="b" t="t" l="l"/>
            <a:pathLst>
              <a:path h="6204603" w="5770281">
                <a:moveTo>
                  <a:pt x="0" y="0"/>
                </a:moveTo>
                <a:lnTo>
                  <a:pt x="5770281" y="0"/>
                </a:lnTo>
                <a:lnTo>
                  <a:pt x="5770281" y="6204603"/>
                </a:lnTo>
                <a:lnTo>
                  <a:pt x="0" y="62046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36756" y="2585444"/>
            <a:ext cx="5770281" cy="6204603"/>
          </a:xfrm>
          <a:custGeom>
            <a:avLst/>
            <a:gdLst/>
            <a:ahLst/>
            <a:cxnLst/>
            <a:rect r="r" b="b" t="t" l="l"/>
            <a:pathLst>
              <a:path h="6204603" w="5770281">
                <a:moveTo>
                  <a:pt x="0" y="0"/>
                </a:moveTo>
                <a:lnTo>
                  <a:pt x="5770281" y="0"/>
                </a:lnTo>
                <a:lnTo>
                  <a:pt x="5770281" y="6204603"/>
                </a:lnTo>
                <a:lnTo>
                  <a:pt x="0" y="62046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71210" y="4248438"/>
            <a:ext cx="4766158" cy="3193326"/>
          </a:xfrm>
          <a:custGeom>
            <a:avLst/>
            <a:gdLst/>
            <a:ahLst/>
            <a:cxnLst/>
            <a:rect r="r" b="b" t="t" l="l"/>
            <a:pathLst>
              <a:path h="3193326" w="4766158">
                <a:moveTo>
                  <a:pt x="0" y="0"/>
                </a:moveTo>
                <a:lnTo>
                  <a:pt x="4766158" y="0"/>
                </a:lnTo>
                <a:lnTo>
                  <a:pt x="4766158" y="3193326"/>
                </a:lnTo>
                <a:lnTo>
                  <a:pt x="0" y="31933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4762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5237079" y="3996396"/>
            <a:ext cx="988402" cy="504085"/>
          </a:xfrm>
          <a:custGeom>
            <a:avLst/>
            <a:gdLst/>
            <a:ahLst/>
            <a:cxnLst/>
            <a:rect r="r" b="b" t="t" l="l"/>
            <a:pathLst>
              <a:path h="504085" w="988402">
                <a:moveTo>
                  <a:pt x="0" y="0"/>
                </a:moveTo>
                <a:lnTo>
                  <a:pt x="988402" y="0"/>
                </a:lnTo>
                <a:lnTo>
                  <a:pt x="988402" y="504085"/>
                </a:lnTo>
                <a:lnTo>
                  <a:pt x="0" y="5040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412446" y="3440304"/>
            <a:ext cx="4271800" cy="450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</a:p>
          <a:p>
            <a:pPr algn="l" marL="0" indent="0" lvl="0">
              <a:lnSpc>
                <a:spcPts val="3915"/>
              </a:lnSpc>
              <a:spcBef>
                <a:spcPct val="0"/>
              </a:spcBef>
            </a:pPr>
            <a:r>
              <a:rPr lang="en-US" b="true" sz="2796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Pan</a:t>
            </a:r>
            <a:r>
              <a:rPr lang="en-US" b="true" sz="2796" strike="noStrike" u="non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el Administración Casino</a:t>
            </a:r>
          </a:p>
          <a:p>
            <a:pPr algn="l" marL="0" indent="0" lvl="0">
              <a:lnSpc>
                <a:spcPts val="3915"/>
              </a:lnSpc>
              <a:spcBef>
                <a:spcPct val="0"/>
              </a:spcBef>
            </a:pPr>
          </a:p>
          <a:p>
            <a:pPr algn="l" marL="603812" indent="-301906" lvl="1">
              <a:lnSpc>
                <a:spcPts val="3915"/>
              </a:lnSpc>
              <a:buFont typeface="Arial"/>
              <a:buChar char="•"/>
            </a:pPr>
            <a:r>
              <a:rPr lang="en-US" sz="2796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Gestión: Publicación del menú semanal</a:t>
            </a:r>
          </a:p>
          <a:p>
            <a:pPr algn="l" marL="603812" indent="-301906" lvl="1">
              <a:lnSpc>
                <a:spcPts val="3915"/>
              </a:lnSpc>
              <a:buFont typeface="Arial"/>
              <a:buChar char="•"/>
            </a:pPr>
            <a:r>
              <a:rPr lang="en-US" sz="2796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Pedidos: Control de flujo hasta el retiro</a:t>
            </a:r>
          </a:p>
          <a:p>
            <a:pPr algn="l" marL="603812" indent="-301906" lvl="1">
              <a:lnSpc>
                <a:spcPts val="3915"/>
              </a:lnSpc>
              <a:buFont typeface="Arial"/>
              <a:buChar char="•"/>
            </a:pPr>
            <a:r>
              <a:rPr lang="en-US" sz="2796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Métricas: Resultados de encuestas activas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668351" y="3869098"/>
            <a:ext cx="631383" cy="631383"/>
          </a:xfrm>
          <a:custGeom>
            <a:avLst/>
            <a:gdLst/>
            <a:ahLst/>
            <a:cxnLst/>
            <a:rect r="r" b="b" t="t" l="l"/>
            <a:pathLst>
              <a:path h="631383" w="631383">
                <a:moveTo>
                  <a:pt x="0" y="0"/>
                </a:moveTo>
                <a:lnTo>
                  <a:pt x="631382" y="0"/>
                </a:lnTo>
                <a:lnTo>
                  <a:pt x="631382" y="631383"/>
                </a:lnTo>
                <a:lnTo>
                  <a:pt x="0" y="6313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14658" y="1451068"/>
            <a:ext cx="15844642" cy="955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33"/>
              </a:lnSpc>
              <a:spcBef>
                <a:spcPct val="0"/>
              </a:spcBef>
            </a:pPr>
            <a:r>
              <a:rPr lang="en-US" sz="5524">
                <a:solidFill>
                  <a:srgbClr val="373434"/>
                </a:solidFill>
                <a:latin typeface="Monument Bold"/>
                <a:ea typeface="Monument Bold"/>
                <a:cs typeface="Monument Bold"/>
                <a:sym typeface="Monument Bold"/>
              </a:rPr>
              <a:t>MODULOS DEL SISTEMA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4658" y="3449829"/>
            <a:ext cx="4526749" cy="489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6"/>
              </a:lnSpc>
            </a:pPr>
          </a:p>
          <a:p>
            <a:pPr algn="l" marL="0" indent="0" lvl="0">
              <a:lnSpc>
                <a:spcPts val="3836"/>
              </a:lnSpc>
              <a:spcBef>
                <a:spcPct val="0"/>
              </a:spcBef>
            </a:pPr>
            <a:r>
              <a:rPr lang="en-US" b="true" sz="2740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P</a:t>
            </a:r>
            <a:r>
              <a:rPr lang="en-US" b="true" sz="2740" strike="noStrike" u="non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ortal Estudiantes y Funcionarios</a:t>
            </a:r>
          </a:p>
          <a:p>
            <a:pPr algn="l" marL="0" indent="0" lvl="0">
              <a:lnSpc>
                <a:spcPts val="3836"/>
              </a:lnSpc>
              <a:spcBef>
                <a:spcPct val="0"/>
              </a:spcBef>
            </a:pPr>
          </a:p>
          <a:p>
            <a:pPr algn="l" marL="591601" indent="-295801" lvl="1">
              <a:lnSpc>
                <a:spcPts val="3836"/>
              </a:lnSpc>
              <a:buFont typeface="Arial"/>
              <a:buChar char="•"/>
            </a:pPr>
            <a:r>
              <a:rPr lang="en-US" sz="274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Catálogo: Visualización de menú semanal</a:t>
            </a:r>
          </a:p>
          <a:p>
            <a:pPr algn="l" marL="591601" indent="-295801" lvl="1">
              <a:lnSpc>
                <a:spcPts val="3836"/>
              </a:lnSpc>
              <a:buFont typeface="Arial"/>
              <a:buChar char="•"/>
            </a:pPr>
            <a:r>
              <a:rPr lang="en-US" sz="274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Carrito: Selección y checkout exprés</a:t>
            </a:r>
          </a:p>
          <a:p>
            <a:pPr algn="l" marL="591601" indent="-295801" lvl="1">
              <a:lnSpc>
                <a:spcPts val="3836"/>
              </a:lnSpc>
              <a:buFont typeface="Arial"/>
              <a:buChar char="•"/>
            </a:pPr>
            <a:r>
              <a:rPr lang="en-US" sz="274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Votación: Registro de opción de almuerzo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16147" y="2938613"/>
            <a:ext cx="10380376" cy="10406392"/>
          </a:xfrm>
          <a:custGeom>
            <a:avLst/>
            <a:gdLst/>
            <a:ahLst/>
            <a:cxnLst/>
            <a:rect r="r" b="b" t="t" l="l"/>
            <a:pathLst>
              <a:path h="10406392" w="10380376">
                <a:moveTo>
                  <a:pt x="0" y="0"/>
                </a:moveTo>
                <a:lnTo>
                  <a:pt x="10380376" y="0"/>
                </a:lnTo>
                <a:lnTo>
                  <a:pt x="10380376" y="10406392"/>
                </a:lnTo>
                <a:lnTo>
                  <a:pt x="0" y="10406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4269" y="2714145"/>
            <a:ext cx="863492" cy="863492"/>
          </a:xfrm>
          <a:custGeom>
            <a:avLst/>
            <a:gdLst/>
            <a:ahLst/>
            <a:cxnLst/>
            <a:rect r="r" b="b" t="t" l="l"/>
            <a:pathLst>
              <a:path h="863492" w="863492">
                <a:moveTo>
                  <a:pt x="0" y="0"/>
                </a:moveTo>
                <a:lnTo>
                  <a:pt x="863492" y="0"/>
                </a:lnTo>
                <a:lnTo>
                  <a:pt x="863492" y="863492"/>
                </a:lnTo>
                <a:lnTo>
                  <a:pt x="0" y="8634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2462" y="4508617"/>
            <a:ext cx="863492" cy="863492"/>
          </a:xfrm>
          <a:custGeom>
            <a:avLst/>
            <a:gdLst/>
            <a:ahLst/>
            <a:cxnLst/>
            <a:rect r="r" b="b" t="t" l="l"/>
            <a:pathLst>
              <a:path h="863492" w="863492">
                <a:moveTo>
                  <a:pt x="0" y="0"/>
                </a:moveTo>
                <a:lnTo>
                  <a:pt x="863492" y="0"/>
                </a:lnTo>
                <a:lnTo>
                  <a:pt x="863492" y="863492"/>
                </a:lnTo>
                <a:lnTo>
                  <a:pt x="0" y="8634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2462" y="6423455"/>
            <a:ext cx="863492" cy="863492"/>
          </a:xfrm>
          <a:custGeom>
            <a:avLst/>
            <a:gdLst/>
            <a:ahLst/>
            <a:cxnLst/>
            <a:rect r="r" b="b" t="t" l="l"/>
            <a:pathLst>
              <a:path h="863492" w="863492">
                <a:moveTo>
                  <a:pt x="0" y="0"/>
                </a:moveTo>
                <a:lnTo>
                  <a:pt x="863492" y="0"/>
                </a:lnTo>
                <a:lnTo>
                  <a:pt x="863492" y="863492"/>
                </a:lnTo>
                <a:lnTo>
                  <a:pt x="0" y="8634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35795" y="-4365074"/>
            <a:ext cx="10459122" cy="10658977"/>
          </a:xfrm>
          <a:custGeom>
            <a:avLst/>
            <a:gdLst/>
            <a:ahLst/>
            <a:cxnLst/>
            <a:rect r="r" b="b" t="t" l="l"/>
            <a:pathLst>
              <a:path h="10658977" w="10459122">
                <a:moveTo>
                  <a:pt x="0" y="0"/>
                </a:moveTo>
                <a:lnTo>
                  <a:pt x="10459121" y="0"/>
                </a:lnTo>
                <a:lnTo>
                  <a:pt x="10459121" y="10658977"/>
                </a:lnTo>
                <a:lnTo>
                  <a:pt x="0" y="10658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8314519" y="3269406"/>
            <a:ext cx="12170857" cy="3341914"/>
          </a:xfrm>
          <a:custGeom>
            <a:avLst/>
            <a:gdLst/>
            <a:ahLst/>
            <a:cxnLst/>
            <a:rect r="r" b="b" t="t" l="l"/>
            <a:pathLst>
              <a:path h="3341914" w="12170857">
                <a:moveTo>
                  <a:pt x="0" y="0"/>
                </a:moveTo>
                <a:lnTo>
                  <a:pt x="12170857" y="0"/>
                </a:lnTo>
                <a:lnTo>
                  <a:pt x="12170857" y="3341914"/>
                </a:lnTo>
                <a:lnTo>
                  <a:pt x="0" y="33419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42543" y="975506"/>
            <a:ext cx="11386448" cy="80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16"/>
              </a:lnSpc>
            </a:pPr>
            <a:r>
              <a:rPr lang="en-US" sz="5352">
                <a:solidFill>
                  <a:srgbClr val="373434"/>
                </a:solidFill>
                <a:latin typeface="Monument Bold"/>
                <a:ea typeface="Monument Bold"/>
                <a:cs typeface="Monument Bold"/>
                <a:sym typeface="Monument Bold"/>
              </a:rPr>
              <a:t>COMPETENCIAS CLAVE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23770" y="3518573"/>
            <a:ext cx="8868593" cy="47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2"/>
              </a:lnSpc>
              <a:spcBef>
                <a:spcPct val="0"/>
              </a:spcBef>
            </a:pPr>
            <a:r>
              <a:rPr lang="en-US" sz="2480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Ej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ecuci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ó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n 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d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e 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p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rue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b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s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un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tari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s e integr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ci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ó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n en 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to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do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s 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los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mód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u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lo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23770" y="5276859"/>
            <a:ext cx="8868593" cy="47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2"/>
              </a:lnSpc>
              <a:spcBef>
                <a:spcPct val="0"/>
              </a:spcBef>
            </a:pP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Planificación ágil Scrum con entregas e hitos controlados.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23770" y="6922553"/>
            <a:ext cx="8868593" cy="47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2"/>
              </a:lnSpc>
              <a:spcBef>
                <a:spcPct val="0"/>
              </a:spcBef>
            </a:pP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Diseño relacional escalable para usuarios, menús y pedidos.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23770" y="2758060"/>
            <a:ext cx="9755201" cy="514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4"/>
              </a:lnSpc>
              <a:spcBef>
                <a:spcPct val="0"/>
              </a:spcBef>
            </a:pPr>
            <a:r>
              <a:rPr lang="en-US" sz="2974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C1: PRUEBAS Y CALIDAD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23770" y="4615252"/>
            <a:ext cx="9268707" cy="514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4"/>
              </a:lnSpc>
              <a:spcBef>
                <a:spcPct val="0"/>
              </a:spcBef>
            </a:pP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C2: GESTIÓN DE PROYECTOS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23770" y="6472443"/>
            <a:ext cx="7825999" cy="104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4"/>
              </a:lnSpc>
              <a:spcBef>
                <a:spcPct val="0"/>
              </a:spcBef>
            </a:pP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C3: MODELADO DE DATOS</a:t>
            </a:r>
          </a:p>
          <a:p>
            <a:pPr algn="l" marL="0" indent="0" lvl="0">
              <a:lnSpc>
                <a:spcPts val="4164"/>
              </a:lnSpc>
              <a:spcBef>
                <a:spcPct val="0"/>
              </a:spcBef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22462" y="7965208"/>
            <a:ext cx="863492" cy="863492"/>
          </a:xfrm>
          <a:custGeom>
            <a:avLst/>
            <a:gdLst/>
            <a:ahLst/>
            <a:cxnLst/>
            <a:rect r="r" b="b" t="t" l="l"/>
            <a:pathLst>
              <a:path h="863492" w="863492">
                <a:moveTo>
                  <a:pt x="0" y="0"/>
                </a:moveTo>
                <a:lnTo>
                  <a:pt x="863492" y="0"/>
                </a:lnTo>
                <a:lnTo>
                  <a:pt x="863492" y="863492"/>
                </a:lnTo>
                <a:lnTo>
                  <a:pt x="0" y="8634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823770" y="8592445"/>
            <a:ext cx="8868593" cy="47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2"/>
              </a:lnSpc>
              <a:spcBef>
                <a:spcPct val="0"/>
              </a:spcBef>
            </a:pP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Construcción Full-Stack modular orientada a mantenimiento.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23770" y="8023966"/>
            <a:ext cx="8966745" cy="103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4"/>
              </a:lnSpc>
              <a:spcBef>
                <a:spcPct val="0"/>
              </a:spcBef>
            </a:pP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C4: DESARROLLO DE SOFTWARE</a:t>
            </a:r>
          </a:p>
          <a:p>
            <a:pPr algn="l" marL="0" indent="0" lvl="0">
              <a:lnSpc>
                <a:spcPts val="416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88375" y="3128631"/>
            <a:ext cx="4233166" cy="4243752"/>
            <a:chOff x="0" y="0"/>
            <a:chExt cx="5644221" cy="56583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44221" cy="5658336"/>
            </a:xfrm>
            <a:custGeom>
              <a:avLst/>
              <a:gdLst/>
              <a:ahLst/>
              <a:cxnLst/>
              <a:rect r="r" b="b" t="t" l="l"/>
              <a:pathLst>
                <a:path h="5658336" w="5644221">
                  <a:moveTo>
                    <a:pt x="0" y="0"/>
                  </a:moveTo>
                  <a:lnTo>
                    <a:pt x="5644221" y="0"/>
                  </a:lnTo>
                  <a:lnTo>
                    <a:pt x="5644221" y="5658336"/>
                  </a:lnTo>
                  <a:lnTo>
                    <a:pt x="0" y="5658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7253" y="1430792"/>
              <a:ext cx="4272519" cy="2796720"/>
            </a:xfrm>
            <a:custGeom>
              <a:avLst/>
              <a:gdLst/>
              <a:ahLst/>
              <a:cxnLst/>
              <a:rect r="r" b="b" t="t" l="l"/>
              <a:pathLst>
                <a:path h="2796720" w="4272519">
                  <a:moveTo>
                    <a:pt x="0" y="0"/>
                  </a:moveTo>
                  <a:lnTo>
                    <a:pt x="4272520" y="0"/>
                  </a:lnTo>
                  <a:lnTo>
                    <a:pt x="4272520" y="2796720"/>
                  </a:lnTo>
                  <a:lnTo>
                    <a:pt x="0" y="2796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677945" y="506562"/>
              <a:ext cx="4151137" cy="565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49"/>
                </a:lnSpc>
                <a:spcBef>
                  <a:spcPct val="0"/>
                </a:spcBef>
              </a:pPr>
              <a:r>
                <a:rPr lang="en-US" sz="2535" strike="noStrike" u="none">
                  <a:solidFill>
                    <a:srgbClr val="373434"/>
                  </a:solidFill>
                  <a:latin typeface="Monument"/>
                  <a:ea typeface="Monument"/>
                  <a:cs typeface="Monument"/>
                  <a:sym typeface="Monument"/>
                </a:rPr>
                <a:t>OBJETIVO 1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051091" y="1989513"/>
              <a:ext cx="3404844" cy="1691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373434"/>
                  </a:solidFill>
                  <a:latin typeface="Rotis Sans Serif"/>
                  <a:ea typeface="Rotis Sans Serif"/>
                  <a:cs typeface="Rotis Sans Serif"/>
                  <a:sym typeface="Rotis Sans Serif"/>
                </a:rPr>
                <a:t>Diseñar e implementar la arquitectura Full-Stack de la plataforma (app web + panel de administración)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259766" y="3128631"/>
            <a:ext cx="4233315" cy="4243901"/>
            <a:chOff x="0" y="0"/>
            <a:chExt cx="5644420" cy="56585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44420" cy="5658535"/>
            </a:xfrm>
            <a:custGeom>
              <a:avLst/>
              <a:gdLst/>
              <a:ahLst/>
              <a:cxnLst/>
              <a:rect r="r" b="b" t="t" l="l"/>
              <a:pathLst>
                <a:path h="5658535" w="5644420">
                  <a:moveTo>
                    <a:pt x="0" y="0"/>
                  </a:moveTo>
                  <a:lnTo>
                    <a:pt x="5644420" y="0"/>
                  </a:lnTo>
                  <a:lnTo>
                    <a:pt x="5644420" y="5658535"/>
                  </a:lnTo>
                  <a:lnTo>
                    <a:pt x="0" y="5658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17275" y="1430842"/>
              <a:ext cx="4272670" cy="2796818"/>
            </a:xfrm>
            <a:custGeom>
              <a:avLst/>
              <a:gdLst/>
              <a:ahLst/>
              <a:cxnLst/>
              <a:rect r="r" b="b" t="t" l="l"/>
              <a:pathLst>
                <a:path h="2796818" w="4272670">
                  <a:moveTo>
                    <a:pt x="0" y="0"/>
                  </a:moveTo>
                  <a:lnTo>
                    <a:pt x="4272670" y="0"/>
                  </a:lnTo>
                  <a:lnTo>
                    <a:pt x="4272670" y="2796819"/>
                  </a:lnTo>
                  <a:lnTo>
                    <a:pt x="0" y="2796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677968" y="506582"/>
              <a:ext cx="4151283" cy="565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49"/>
                </a:lnSpc>
                <a:spcBef>
                  <a:spcPct val="0"/>
                </a:spcBef>
              </a:pPr>
              <a:r>
                <a:rPr lang="en-US" sz="2535" strike="noStrike" u="none">
                  <a:solidFill>
                    <a:srgbClr val="373434"/>
                  </a:solidFill>
                  <a:latin typeface="Monument"/>
                  <a:ea typeface="Monument"/>
                  <a:cs typeface="Monument"/>
                  <a:sym typeface="Monument"/>
                </a:rPr>
                <a:t>OBJETIVO 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051128" y="1989586"/>
              <a:ext cx="3404964" cy="1691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19"/>
                </a:lnSpc>
                <a:spcBef>
                  <a:spcPct val="0"/>
                </a:spcBef>
              </a:pPr>
              <a:r>
                <a:rPr lang="en-US" sz="1799" strike="noStrike" u="none">
                  <a:solidFill>
                    <a:srgbClr val="373434"/>
                  </a:solidFill>
                  <a:latin typeface="Rotis Sans Serif"/>
                  <a:ea typeface="Rotis Sans Serif"/>
                  <a:cs typeface="Rotis Sans Serif"/>
                  <a:sym typeface="Rotis Sans Serif"/>
                </a:rPr>
                <a:t>Desarrollar el módulo de compra rápida: selección, carrito, pago y confirmación de pedido.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531306" y="3128711"/>
            <a:ext cx="4233236" cy="4243822"/>
            <a:chOff x="0" y="0"/>
            <a:chExt cx="5644314" cy="56584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44314" cy="5658429"/>
            </a:xfrm>
            <a:custGeom>
              <a:avLst/>
              <a:gdLst/>
              <a:ahLst/>
              <a:cxnLst/>
              <a:rect r="r" b="b" t="t" l="l"/>
              <a:pathLst>
                <a:path h="5658429" w="5644314">
                  <a:moveTo>
                    <a:pt x="0" y="0"/>
                  </a:moveTo>
                  <a:lnTo>
                    <a:pt x="5644314" y="0"/>
                  </a:lnTo>
                  <a:lnTo>
                    <a:pt x="5644314" y="5658429"/>
                  </a:lnTo>
                  <a:lnTo>
                    <a:pt x="0" y="5658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17264" y="1430816"/>
              <a:ext cx="4272590" cy="2796766"/>
            </a:xfrm>
            <a:custGeom>
              <a:avLst/>
              <a:gdLst/>
              <a:ahLst/>
              <a:cxnLst/>
              <a:rect r="r" b="b" t="t" l="l"/>
              <a:pathLst>
                <a:path h="2796766" w="4272590">
                  <a:moveTo>
                    <a:pt x="0" y="0"/>
                  </a:moveTo>
                  <a:lnTo>
                    <a:pt x="4272589" y="0"/>
                  </a:lnTo>
                  <a:lnTo>
                    <a:pt x="4272589" y="2796765"/>
                  </a:lnTo>
                  <a:lnTo>
                    <a:pt x="0" y="2796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677956" y="506572"/>
              <a:ext cx="4151205" cy="565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49"/>
                </a:lnSpc>
                <a:spcBef>
                  <a:spcPct val="0"/>
                </a:spcBef>
              </a:pPr>
              <a:r>
                <a:rPr lang="en-US" sz="2535" strike="noStrike" u="none">
                  <a:solidFill>
                    <a:srgbClr val="373434"/>
                  </a:solidFill>
                  <a:latin typeface="Monument"/>
                  <a:ea typeface="Monument"/>
                  <a:cs typeface="Monument"/>
                  <a:sym typeface="Monument"/>
                </a:rPr>
                <a:t>OBJETIVO 3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051108" y="1933131"/>
              <a:ext cx="3404900" cy="2110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373434"/>
                  </a:solidFill>
                  <a:latin typeface="Rotis Sans Serif"/>
                  <a:ea typeface="Rotis Sans Serif"/>
                  <a:cs typeface="Rotis Sans Serif"/>
                  <a:sym typeface="Rotis Sans Serif"/>
                </a:rPr>
                <a:t>Construir un modelo de datos relacional escalable para usuarios, roles, menú, productos, pedidos y votaciones.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104910" y="6402643"/>
            <a:ext cx="4233262" cy="4243848"/>
            <a:chOff x="0" y="0"/>
            <a:chExt cx="5644349" cy="56584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44349" cy="5658464"/>
            </a:xfrm>
            <a:custGeom>
              <a:avLst/>
              <a:gdLst/>
              <a:ahLst/>
              <a:cxnLst/>
              <a:rect r="r" b="b" t="t" l="l"/>
              <a:pathLst>
                <a:path h="5658464" w="5644349">
                  <a:moveTo>
                    <a:pt x="0" y="0"/>
                  </a:moveTo>
                  <a:lnTo>
                    <a:pt x="5644349" y="0"/>
                  </a:lnTo>
                  <a:lnTo>
                    <a:pt x="5644349" y="5658464"/>
                  </a:lnTo>
                  <a:lnTo>
                    <a:pt x="0" y="5658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17267" y="1430824"/>
              <a:ext cx="4272616" cy="2796783"/>
            </a:xfrm>
            <a:custGeom>
              <a:avLst/>
              <a:gdLst/>
              <a:ahLst/>
              <a:cxnLst/>
              <a:rect r="r" b="b" t="t" l="l"/>
              <a:pathLst>
                <a:path h="2796783" w="4272616">
                  <a:moveTo>
                    <a:pt x="0" y="0"/>
                  </a:moveTo>
                  <a:lnTo>
                    <a:pt x="4272617" y="0"/>
                  </a:lnTo>
                  <a:lnTo>
                    <a:pt x="4272617" y="2796784"/>
                  </a:lnTo>
                  <a:lnTo>
                    <a:pt x="0" y="2796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677960" y="506575"/>
              <a:ext cx="4151231" cy="5658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49"/>
                </a:lnSpc>
                <a:spcBef>
                  <a:spcPct val="0"/>
                </a:spcBef>
              </a:pPr>
              <a:r>
                <a:rPr lang="en-US" sz="2535" strike="noStrike" u="none">
                  <a:solidFill>
                    <a:srgbClr val="373434"/>
                  </a:solidFill>
                  <a:latin typeface="Monument"/>
                  <a:ea typeface="Monument"/>
                  <a:cs typeface="Monument"/>
                  <a:sym typeface="Monument"/>
                </a:rPr>
                <a:t>OBJETIVO 4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051115" y="1989560"/>
              <a:ext cx="3404921" cy="1691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373434"/>
                  </a:solidFill>
                  <a:latin typeface="Rotis Sans Serif"/>
                  <a:ea typeface="Rotis Sans Serif"/>
                  <a:cs typeface="Rotis Sans Serif"/>
                  <a:sym typeface="Rotis Sans Serif"/>
                </a:rPr>
                <a:t>Implementar el sistema de votaciones para crear encuestas y recopilar preferencias de almuerzo.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414583" y="6402643"/>
            <a:ext cx="4233341" cy="4243928"/>
            <a:chOff x="0" y="0"/>
            <a:chExt cx="5644455" cy="56585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44455" cy="5658570"/>
            </a:xfrm>
            <a:custGeom>
              <a:avLst/>
              <a:gdLst/>
              <a:ahLst/>
              <a:cxnLst/>
              <a:rect r="r" b="b" t="t" l="l"/>
              <a:pathLst>
                <a:path h="5658570" w="5644455">
                  <a:moveTo>
                    <a:pt x="0" y="0"/>
                  </a:moveTo>
                  <a:lnTo>
                    <a:pt x="5644455" y="0"/>
                  </a:lnTo>
                  <a:lnTo>
                    <a:pt x="5644455" y="5658570"/>
                  </a:lnTo>
                  <a:lnTo>
                    <a:pt x="0" y="565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17279" y="1430851"/>
              <a:ext cx="4272696" cy="2796836"/>
            </a:xfrm>
            <a:custGeom>
              <a:avLst/>
              <a:gdLst/>
              <a:ahLst/>
              <a:cxnLst/>
              <a:rect r="r" b="b" t="t" l="l"/>
              <a:pathLst>
                <a:path h="2796836" w="4272696">
                  <a:moveTo>
                    <a:pt x="0" y="0"/>
                  </a:moveTo>
                  <a:lnTo>
                    <a:pt x="4272696" y="0"/>
                  </a:lnTo>
                  <a:lnTo>
                    <a:pt x="4272696" y="2796836"/>
                  </a:lnTo>
                  <a:lnTo>
                    <a:pt x="0" y="27968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677973" y="506586"/>
              <a:ext cx="4151309" cy="565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49"/>
                </a:lnSpc>
                <a:spcBef>
                  <a:spcPct val="0"/>
                </a:spcBef>
              </a:pPr>
              <a:r>
                <a:rPr lang="en-US" sz="2535" strike="noStrike" u="none">
                  <a:solidFill>
                    <a:srgbClr val="373434"/>
                  </a:solidFill>
                  <a:latin typeface="Monument"/>
                  <a:ea typeface="Monument"/>
                  <a:cs typeface="Monument"/>
                  <a:sym typeface="Monument"/>
                </a:rPr>
                <a:t>OBJETIVO 5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051135" y="2154899"/>
              <a:ext cx="3404985" cy="1272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373434"/>
                  </a:solidFill>
                  <a:latin typeface="Rotis Sans Serif"/>
                  <a:ea typeface="Rotis Sans Serif"/>
                  <a:cs typeface="Rotis Sans Serif"/>
                  <a:sym typeface="Rotis Sans Serif"/>
                </a:rPr>
                <a:t>Diseñar y ejecutar un plan de pruebas unitarias, de integración y de aceptación.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67747" y="914400"/>
            <a:ext cx="15752506" cy="191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11"/>
              </a:lnSpc>
              <a:spcBef>
                <a:spcPct val="0"/>
              </a:spcBef>
            </a:pPr>
            <a:r>
              <a:rPr lang="en-US" sz="5508" strike="noStrike" u="none">
                <a:solidFill>
                  <a:srgbClr val="373434"/>
                </a:solidFill>
                <a:latin typeface="Monument Bold"/>
                <a:ea typeface="Monument Bold"/>
                <a:cs typeface="Monument Bold"/>
                <a:sym typeface="Monument Bold"/>
              </a:rPr>
              <a:t>OBJETIVOS  ESPECIFICOS DEL PROYECTO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95232" y="810024"/>
            <a:ext cx="10380376" cy="10406392"/>
          </a:xfrm>
          <a:custGeom>
            <a:avLst/>
            <a:gdLst/>
            <a:ahLst/>
            <a:cxnLst/>
            <a:rect r="r" b="b" t="t" l="l"/>
            <a:pathLst>
              <a:path h="10406392" w="10380376">
                <a:moveTo>
                  <a:pt x="0" y="0"/>
                </a:moveTo>
                <a:lnTo>
                  <a:pt x="10380376" y="0"/>
                </a:lnTo>
                <a:lnTo>
                  <a:pt x="10380376" y="10406393"/>
                </a:lnTo>
                <a:lnTo>
                  <a:pt x="0" y="104063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89428"/>
            <a:ext cx="10380376" cy="10406392"/>
          </a:xfrm>
          <a:custGeom>
            <a:avLst/>
            <a:gdLst/>
            <a:ahLst/>
            <a:cxnLst/>
            <a:rect r="r" b="b" t="t" l="l"/>
            <a:pathLst>
              <a:path h="10406392" w="10380376">
                <a:moveTo>
                  <a:pt x="0" y="0"/>
                </a:moveTo>
                <a:lnTo>
                  <a:pt x="10380376" y="0"/>
                </a:lnTo>
                <a:lnTo>
                  <a:pt x="10380376" y="10406392"/>
                </a:lnTo>
                <a:lnTo>
                  <a:pt x="0" y="10406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14658" y="1451068"/>
            <a:ext cx="15844642" cy="955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33"/>
              </a:lnSpc>
              <a:spcBef>
                <a:spcPct val="0"/>
              </a:spcBef>
            </a:pPr>
            <a:r>
              <a:rPr lang="en-US" sz="5524">
                <a:solidFill>
                  <a:srgbClr val="373434"/>
                </a:solidFill>
                <a:latin typeface="Monument Bold"/>
                <a:ea typeface="Monument Bold"/>
                <a:cs typeface="Monument Bold"/>
                <a:sym typeface="Monument Bold"/>
              </a:rPr>
              <a:t>ARQUITECTURA DEL SISTEMA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49639" y="3473580"/>
            <a:ext cx="3146695" cy="1684918"/>
            <a:chOff x="0" y="0"/>
            <a:chExt cx="828759" cy="4437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8759" cy="443764"/>
            </a:xfrm>
            <a:custGeom>
              <a:avLst/>
              <a:gdLst/>
              <a:ahLst/>
              <a:cxnLst/>
              <a:rect r="r" b="b" t="t" l="l"/>
              <a:pathLst>
                <a:path h="443764" w="828759">
                  <a:moveTo>
                    <a:pt x="0" y="0"/>
                  </a:moveTo>
                  <a:lnTo>
                    <a:pt x="828759" y="0"/>
                  </a:lnTo>
                  <a:lnTo>
                    <a:pt x="828759" y="443764"/>
                  </a:lnTo>
                  <a:lnTo>
                    <a:pt x="0" y="443764"/>
                  </a:lnTo>
                  <a:close/>
                </a:path>
              </a:pathLst>
            </a:custGeom>
            <a:solidFill>
              <a:srgbClr val="FFF2C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828759" cy="539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72"/>
                </a:lnSpc>
              </a:pPr>
              <a:r>
                <a:rPr lang="en-US" sz="2480">
                  <a:solidFill>
                    <a:srgbClr val="000000"/>
                  </a:solidFill>
                  <a:latin typeface="Rotis Sans Serif"/>
                  <a:ea typeface="Rotis Sans Serif"/>
                  <a:cs typeface="Rotis Sans Serif"/>
                  <a:sym typeface="Rotis Sans Serif"/>
                </a:rPr>
                <a:t>Frontend</a:t>
              </a:r>
            </a:p>
            <a:p>
              <a:pPr algn="ctr">
                <a:lnSpc>
                  <a:spcPts val="3472"/>
                </a:lnSpc>
              </a:pPr>
              <a:r>
                <a:rPr lang="en-US" sz="2480">
                  <a:solidFill>
                    <a:srgbClr val="000000"/>
                  </a:solidFill>
                  <a:latin typeface="Rotis Sans Serif"/>
                  <a:ea typeface="Rotis Sans Serif"/>
                  <a:cs typeface="Rotis Sans Serif"/>
                  <a:sym typeface="Rotis Sans Serif"/>
                </a:rPr>
                <a:t>(app web)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514310" y="3473580"/>
            <a:ext cx="3146695" cy="1684918"/>
            <a:chOff x="0" y="0"/>
            <a:chExt cx="828759" cy="4437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8759" cy="443764"/>
            </a:xfrm>
            <a:custGeom>
              <a:avLst/>
              <a:gdLst/>
              <a:ahLst/>
              <a:cxnLst/>
              <a:rect r="r" b="b" t="t" l="l"/>
              <a:pathLst>
                <a:path h="443764" w="828759">
                  <a:moveTo>
                    <a:pt x="0" y="0"/>
                  </a:moveTo>
                  <a:lnTo>
                    <a:pt x="828759" y="0"/>
                  </a:lnTo>
                  <a:lnTo>
                    <a:pt x="828759" y="443764"/>
                  </a:lnTo>
                  <a:lnTo>
                    <a:pt x="0" y="443764"/>
                  </a:lnTo>
                  <a:close/>
                </a:path>
              </a:pathLst>
            </a:custGeom>
            <a:solidFill>
              <a:srgbClr val="DECD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828759" cy="539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72"/>
                </a:lnSpc>
              </a:pPr>
              <a:r>
                <a:rPr lang="en-US" sz="2480">
                  <a:solidFill>
                    <a:srgbClr val="000000"/>
                  </a:solidFill>
                  <a:latin typeface="Rotis Sans Serif"/>
                  <a:ea typeface="Rotis Sans Serif"/>
                  <a:cs typeface="Rotis Sans Serif"/>
                  <a:sym typeface="Rotis Sans Serif"/>
                </a:rPr>
                <a:t>Backend</a:t>
              </a:r>
            </a:p>
            <a:p>
              <a:pPr algn="ctr">
                <a:lnSpc>
                  <a:spcPts val="3472"/>
                </a:lnSpc>
              </a:pPr>
              <a:r>
                <a:rPr lang="en-US" sz="2480">
                  <a:solidFill>
                    <a:srgbClr val="000000"/>
                  </a:solidFill>
                  <a:latin typeface="Rotis Sans Serif"/>
                  <a:ea typeface="Rotis Sans Serif"/>
                  <a:cs typeface="Rotis Sans Serif"/>
                  <a:sym typeface="Rotis Sans Serif"/>
                </a:rPr>
                <a:t>(Logica y API)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78981" y="3473580"/>
            <a:ext cx="3146695" cy="1684918"/>
            <a:chOff x="0" y="0"/>
            <a:chExt cx="828759" cy="4437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8759" cy="443764"/>
            </a:xfrm>
            <a:custGeom>
              <a:avLst/>
              <a:gdLst/>
              <a:ahLst/>
              <a:cxnLst/>
              <a:rect r="r" b="b" t="t" l="l"/>
              <a:pathLst>
                <a:path h="443764" w="828759">
                  <a:moveTo>
                    <a:pt x="0" y="0"/>
                  </a:moveTo>
                  <a:lnTo>
                    <a:pt x="828759" y="0"/>
                  </a:lnTo>
                  <a:lnTo>
                    <a:pt x="828759" y="443764"/>
                  </a:lnTo>
                  <a:lnTo>
                    <a:pt x="0" y="443764"/>
                  </a:lnTo>
                  <a:close/>
                </a:path>
              </a:pathLst>
            </a:custGeom>
            <a:solidFill>
              <a:srgbClr val="FFF2C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828759" cy="539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72"/>
                </a:lnSpc>
              </a:pPr>
              <a:r>
                <a:rPr lang="en-US" sz="2480">
                  <a:solidFill>
                    <a:srgbClr val="000000"/>
                  </a:solidFill>
                  <a:latin typeface="Rotis Sans Serif"/>
                  <a:ea typeface="Rotis Sans Serif"/>
                  <a:cs typeface="Rotis Sans Serif"/>
                  <a:sym typeface="Rotis Sans Serif"/>
                </a:rPr>
                <a:t>Base de datos </a:t>
              </a:r>
            </a:p>
            <a:p>
              <a:pPr algn="ctr">
                <a:lnSpc>
                  <a:spcPts val="3472"/>
                </a:lnSpc>
              </a:pPr>
              <a:r>
                <a:rPr lang="en-US" sz="2480">
                  <a:solidFill>
                    <a:srgbClr val="000000"/>
                  </a:solidFill>
                  <a:latin typeface="Rotis Sans Serif"/>
                  <a:ea typeface="Rotis Sans Serif"/>
                  <a:cs typeface="Rotis Sans Serif"/>
                  <a:sym typeface="Rotis Sans Serif"/>
                </a:rPr>
                <a:t>relacional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240051" y="3473580"/>
            <a:ext cx="3146695" cy="1684918"/>
            <a:chOff x="0" y="0"/>
            <a:chExt cx="828759" cy="4437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8759" cy="443764"/>
            </a:xfrm>
            <a:custGeom>
              <a:avLst/>
              <a:gdLst/>
              <a:ahLst/>
              <a:cxnLst/>
              <a:rect r="r" b="b" t="t" l="l"/>
              <a:pathLst>
                <a:path h="443764" w="828759">
                  <a:moveTo>
                    <a:pt x="0" y="0"/>
                  </a:moveTo>
                  <a:lnTo>
                    <a:pt x="828759" y="0"/>
                  </a:lnTo>
                  <a:lnTo>
                    <a:pt x="828759" y="443764"/>
                  </a:lnTo>
                  <a:lnTo>
                    <a:pt x="0" y="443764"/>
                  </a:lnTo>
                  <a:close/>
                </a:path>
              </a:pathLst>
            </a:custGeom>
            <a:solidFill>
              <a:srgbClr val="DECD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828759" cy="539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72"/>
                </a:lnSpc>
              </a:pPr>
              <a:r>
                <a:rPr lang="en-US" sz="2480">
                  <a:solidFill>
                    <a:srgbClr val="000000"/>
                  </a:solidFill>
                  <a:latin typeface="Rotis Sans Serif"/>
                  <a:ea typeface="Rotis Sans Serif"/>
                  <a:cs typeface="Rotis Sans Serif"/>
                  <a:sym typeface="Rotis Sans Serif"/>
                </a:rPr>
                <a:t>Panel de administración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4612918" y="4553764"/>
            <a:ext cx="61484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8" id="18"/>
          <p:cNvSpPr/>
          <p:nvPr/>
        </p:nvSpPr>
        <p:spPr>
          <a:xfrm flipV="true">
            <a:off x="8473648" y="4553764"/>
            <a:ext cx="61484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 flipV="true">
            <a:off x="12573301" y="4645012"/>
            <a:ext cx="61484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4475511" y="6165221"/>
            <a:ext cx="9336979" cy="579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3"/>
              </a:lnSpc>
              <a:spcBef>
                <a:spcPct val="0"/>
              </a:spcBef>
            </a:pPr>
            <a:r>
              <a:rPr lang="en-US" sz="3424" strike="noStrike" u="none">
                <a:solidFill>
                  <a:srgbClr val="373434"/>
                </a:solidFill>
                <a:latin typeface="Monument Bold"/>
                <a:ea typeface="Monument Bold"/>
                <a:cs typeface="Monument Bold"/>
                <a:sym typeface="Monument Bold"/>
              </a:rPr>
              <a:t>BASE DE DATOS RELACIONAL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667284" y="7573382"/>
            <a:ext cx="3146695" cy="1684918"/>
            <a:chOff x="0" y="0"/>
            <a:chExt cx="828759" cy="4437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28759" cy="443764"/>
            </a:xfrm>
            <a:custGeom>
              <a:avLst/>
              <a:gdLst/>
              <a:ahLst/>
              <a:cxnLst/>
              <a:rect r="r" b="b" t="t" l="l"/>
              <a:pathLst>
                <a:path h="443764" w="828759">
                  <a:moveTo>
                    <a:pt x="0" y="0"/>
                  </a:moveTo>
                  <a:lnTo>
                    <a:pt x="828759" y="0"/>
                  </a:lnTo>
                  <a:lnTo>
                    <a:pt x="828759" y="443764"/>
                  </a:lnTo>
                  <a:lnTo>
                    <a:pt x="0" y="443764"/>
                  </a:lnTo>
                  <a:close/>
                </a:path>
              </a:pathLst>
            </a:custGeom>
            <a:solidFill>
              <a:srgbClr val="DECD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828759" cy="529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52"/>
                </a:lnSpc>
                <a:spcBef>
                  <a:spcPct val="0"/>
                </a:spcBef>
              </a:pPr>
              <a:r>
                <a:rPr lang="en-US" b="true" sz="2180" strike="noStrike" u="none">
                  <a:solidFill>
                    <a:srgbClr val="000000"/>
                  </a:solidFill>
                  <a:latin typeface="Rotis Sans Serif Bold"/>
                  <a:ea typeface="Rotis Sans Serif Bold"/>
                  <a:cs typeface="Rotis Sans Serif Bold"/>
                  <a:sym typeface="Rotis Sans Serif Bold"/>
                </a:rPr>
                <a:t>USUARIOS / ROLES</a:t>
              </a:r>
            </a:p>
            <a:p>
              <a:pPr algn="ctr" marL="0" indent="0" lvl="0">
                <a:lnSpc>
                  <a:spcPts val="2772"/>
                </a:lnSpc>
                <a:spcBef>
                  <a:spcPct val="0"/>
                </a:spcBef>
              </a:pPr>
              <a:r>
                <a:rPr lang="en-US" sz="1980" strike="noStrike" u="none">
                  <a:solidFill>
                    <a:srgbClr val="000000"/>
                  </a:solidFill>
                  <a:latin typeface="Rotis Sans Serif"/>
                  <a:ea typeface="Rotis Sans Serif"/>
                  <a:cs typeface="Rotis Sans Serif"/>
                  <a:sym typeface="Rotis Sans Serif"/>
                </a:rPr>
                <a:t>Mapeo de credenciales, roles y permisos administrativos.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480390" y="7573382"/>
            <a:ext cx="3146695" cy="1684918"/>
            <a:chOff x="0" y="0"/>
            <a:chExt cx="828759" cy="4437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8759" cy="443764"/>
            </a:xfrm>
            <a:custGeom>
              <a:avLst/>
              <a:gdLst/>
              <a:ahLst/>
              <a:cxnLst/>
              <a:rect r="r" b="b" t="t" l="l"/>
              <a:pathLst>
                <a:path h="443764" w="828759">
                  <a:moveTo>
                    <a:pt x="0" y="0"/>
                  </a:moveTo>
                  <a:lnTo>
                    <a:pt x="828759" y="0"/>
                  </a:lnTo>
                  <a:lnTo>
                    <a:pt x="828759" y="443764"/>
                  </a:lnTo>
                  <a:lnTo>
                    <a:pt x="0" y="443764"/>
                  </a:lnTo>
                  <a:close/>
                </a:path>
              </a:pathLst>
            </a:custGeom>
            <a:solidFill>
              <a:srgbClr val="FFF2C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828759" cy="529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52"/>
                </a:lnSpc>
                <a:spcBef>
                  <a:spcPct val="0"/>
                </a:spcBef>
              </a:pPr>
              <a:r>
                <a:rPr lang="en-US" b="true" sz="2180" strike="noStrike" u="none">
                  <a:solidFill>
                    <a:srgbClr val="000000"/>
                  </a:solidFill>
                  <a:latin typeface="Rotis Sans Serif Bold"/>
                  <a:ea typeface="Rotis Sans Serif Bold"/>
                  <a:cs typeface="Rotis Sans Serif Bold"/>
                  <a:sym typeface="Rotis Sans Serif Bold"/>
                </a:rPr>
                <a:t>MENÚ / PLATOS</a:t>
              </a:r>
            </a:p>
            <a:p>
              <a:pPr algn="ctr" marL="0" indent="0" lvl="0">
                <a:lnSpc>
                  <a:spcPts val="2772"/>
                </a:lnSpc>
                <a:spcBef>
                  <a:spcPct val="0"/>
                </a:spcBef>
              </a:pPr>
              <a:r>
                <a:rPr lang="en-US" sz="1980" strike="noStrike" u="none">
                  <a:solidFill>
                    <a:srgbClr val="000000"/>
                  </a:solidFill>
                  <a:latin typeface="Rotis Sans Serif"/>
                  <a:ea typeface="Rotis Sans Serif"/>
                  <a:cs typeface="Rotis Sans Serif"/>
                  <a:sym typeface="Rotis Sans Serif"/>
                </a:rPr>
                <a:t>Publicación diaria, detalles nutricionales y precios.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257696" y="7573382"/>
            <a:ext cx="3146695" cy="1684918"/>
            <a:chOff x="0" y="0"/>
            <a:chExt cx="828759" cy="4437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8759" cy="443764"/>
            </a:xfrm>
            <a:custGeom>
              <a:avLst/>
              <a:gdLst/>
              <a:ahLst/>
              <a:cxnLst/>
              <a:rect r="r" b="b" t="t" l="l"/>
              <a:pathLst>
                <a:path h="443764" w="828759">
                  <a:moveTo>
                    <a:pt x="0" y="0"/>
                  </a:moveTo>
                  <a:lnTo>
                    <a:pt x="828759" y="0"/>
                  </a:lnTo>
                  <a:lnTo>
                    <a:pt x="828759" y="443764"/>
                  </a:lnTo>
                  <a:lnTo>
                    <a:pt x="0" y="443764"/>
                  </a:lnTo>
                  <a:close/>
                </a:path>
              </a:pathLst>
            </a:custGeom>
            <a:solidFill>
              <a:srgbClr val="FFF2CB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828759" cy="529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52"/>
                </a:lnSpc>
                <a:spcBef>
                  <a:spcPct val="0"/>
                </a:spcBef>
              </a:pPr>
              <a:r>
                <a:rPr lang="en-US" b="true" sz="2180" strike="noStrike" u="none">
                  <a:solidFill>
                    <a:srgbClr val="000000"/>
                  </a:solidFill>
                  <a:latin typeface="Rotis Sans Serif Bold"/>
                  <a:ea typeface="Rotis Sans Serif Bold"/>
                  <a:cs typeface="Rotis Sans Serif Bold"/>
                  <a:sym typeface="Rotis Sans Serif Bold"/>
                </a:rPr>
                <a:t>ENCUESTAS / VOTOS</a:t>
              </a:r>
            </a:p>
            <a:p>
              <a:pPr algn="ctr" marL="0" indent="0" lvl="0">
                <a:lnSpc>
                  <a:spcPts val="2772"/>
                </a:lnSpc>
                <a:spcBef>
                  <a:spcPct val="0"/>
                </a:spcBef>
              </a:pPr>
              <a:r>
                <a:rPr lang="en-US" sz="1980" strike="noStrike" u="none">
                  <a:solidFill>
                    <a:srgbClr val="000000"/>
                  </a:solidFill>
                  <a:latin typeface="Rotis Sans Serif"/>
                  <a:ea typeface="Rotis Sans Serif"/>
                  <a:cs typeface="Rotis Sans Serif"/>
                  <a:sym typeface="Rotis Sans Serif"/>
                </a:rPr>
                <a:t>Registro de alternativas de menú y voto por estudiante.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369043" y="7573382"/>
            <a:ext cx="3146695" cy="1684918"/>
            <a:chOff x="0" y="0"/>
            <a:chExt cx="828759" cy="4437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28759" cy="443764"/>
            </a:xfrm>
            <a:custGeom>
              <a:avLst/>
              <a:gdLst/>
              <a:ahLst/>
              <a:cxnLst/>
              <a:rect r="r" b="b" t="t" l="l"/>
              <a:pathLst>
                <a:path h="443764" w="828759">
                  <a:moveTo>
                    <a:pt x="0" y="0"/>
                  </a:moveTo>
                  <a:lnTo>
                    <a:pt x="828759" y="0"/>
                  </a:lnTo>
                  <a:lnTo>
                    <a:pt x="828759" y="443764"/>
                  </a:lnTo>
                  <a:lnTo>
                    <a:pt x="0" y="443764"/>
                  </a:lnTo>
                  <a:close/>
                </a:path>
              </a:pathLst>
            </a:custGeom>
            <a:solidFill>
              <a:srgbClr val="DECD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85725"/>
              <a:ext cx="828759" cy="529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52"/>
                </a:lnSpc>
                <a:spcBef>
                  <a:spcPct val="0"/>
                </a:spcBef>
              </a:pPr>
              <a:r>
                <a:rPr lang="en-US" b="true" sz="2180" strike="noStrike" u="none">
                  <a:solidFill>
                    <a:srgbClr val="000000"/>
                  </a:solidFill>
                  <a:latin typeface="Rotis Sans Serif Bold"/>
                  <a:ea typeface="Rotis Sans Serif Bold"/>
                  <a:cs typeface="Rotis Sans Serif Bold"/>
                  <a:sym typeface="Rotis Sans Serif Bold"/>
                </a:rPr>
                <a:t>PEDIDOS / ESTADOS</a:t>
              </a:r>
            </a:p>
            <a:p>
              <a:pPr algn="ctr" marL="0" indent="0" lvl="0">
                <a:lnSpc>
                  <a:spcPts val="2772"/>
                </a:lnSpc>
                <a:spcBef>
                  <a:spcPct val="0"/>
                </a:spcBef>
              </a:pPr>
              <a:r>
                <a:rPr lang="en-US" sz="1980" strike="noStrike" u="none">
                  <a:solidFill>
                    <a:srgbClr val="000000"/>
                  </a:solidFill>
                  <a:latin typeface="Rotis Sans Serif"/>
                  <a:ea typeface="Rotis Sans Serif"/>
                  <a:cs typeface="Rotis Sans Serif"/>
                  <a:sym typeface="Rotis Sans Serif"/>
                </a:rPr>
                <a:t>Trazabilidad de órdenes express desde pendiente a retiro.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16147" y="2938613"/>
            <a:ext cx="10380376" cy="10406392"/>
          </a:xfrm>
          <a:custGeom>
            <a:avLst/>
            <a:gdLst/>
            <a:ahLst/>
            <a:cxnLst/>
            <a:rect r="r" b="b" t="t" l="l"/>
            <a:pathLst>
              <a:path h="10406392" w="10380376">
                <a:moveTo>
                  <a:pt x="0" y="0"/>
                </a:moveTo>
                <a:lnTo>
                  <a:pt x="10380376" y="0"/>
                </a:lnTo>
                <a:lnTo>
                  <a:pt x="10380376" y="10406392"/>
                </a:lnTo>
                <a:lnTo>
                  <a:pt x="0" y="10406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4269" y="2714145"/>
            <a:ext cx="863492" cy="863492"/>
          </a:xfrm>
          <a:custGeom>
            <a:avLst/>
            <a:gdLst/>
            <a:ahLst/>
            <a:cxnLst/>
            <a:rect r="r" b="b" t="t" l="l"/>
            <a:pathLst>
              <a:path h="863492" w="863492">
                <a:moveTo>
                  <a:pt x="0" y="0"/>
                </a:moveTo>
                <a:lnTo>
                  <a:pt x="863492" y="0"/>
                </a:lnTo>
                <a:lnTo>
                  <a:pt x="863492" y="863492"/>
                </a:lnTo>
                <a:lnTo>
                  <a:pt x="0" y="8634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2462" y="4508617"/>
            <a:ext cx="863492" cy="863492"/>
          </a:xfrm>
          <a:custGeom>
            <a:avLst/>
            <a:gdLst/>
            <a:ahLst/>
            <a:cxnLst/>
            <a:rect r="r" b="b" t="t" l="l"/>
            <a:pathLst>
              <a:path h="863492" w="863492">
                <a:moveTo>
                  <a:pt x="0" y="0"/>
                </a:moveTo>
                <a:lnTo>
                  <a:pt x="863492" y="0"/>
                </a:lnTo>
                <a:lnTo>
                  <a:pt x="863492" y="863492"/>
                </a:lnTo>
                <a:lnTo>
                  <a:pt x="0" y="8634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2462" y="6423455"/>
            <a:ext cx="863492" cy="863492"/>
          </a:xfrm>
          <a:custGeom>
            <a:avLst/>
            <a:gdLst/>
            <a:ahLst/>
            <a:cxnLst/>
            <a:rect r="r" b="b" t="t" l="l"/>
            <a:pathLst>
              <a:path h="863492" w="863492">
                <a:moveTo>
                  <a:pt x="0" y="0"/>
                </a:moveTo>
                <a:lnTo>
                  <a:pt x="863492" y="0"/>
                </a:lnTo>
                <a:lnTo>
                  <a:pt x="863492" y="863492"/>
                </a:lnTo>
                <a:lnTo>
                  <a:pt x="0" y="8634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35795" y="-4365074"/>
            <a:ext cx="10459122" cy="10658977"/>
          </a:xfrm>
          <a:custGeom>
            <a:avLst/>
            <a:gdLst/>
            <a:ahLst/>
            <a:cxnLst/>
            <a:rect r="r" b="b" t="t" l="l"/>
            <a:pathLst>
              <a:path h="10658977" w="10459122">
                <a:moveTo>
                  <a:pt x="0" y="0"/>
                </a:moveTo>
                <a:lnTo>
                  <a:pt x="10459121" y="0"/>
                </a:lnTo>
                <a:lnTo>
                  <a:pt x="10459121" y="10658977"/>
                </a:lnTo>
                <a:lnTo>
                  <a:pt x="0" y="10658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2462" y="7965208"/>
            <a:ext cx="863492" cy="863492"/>
          </a:xfrm>
          <a:custGeom>
            <a:avLst/>
            <a:gdLst/>
            <a:ahLst/>
            <a:cxnLst/>
            <a:rect r="r" b="b" t="t" l="l"/>
            <a:pathLst>
              <a:path h="863492" w="863492">
                <a:moveTo>
                  <a:pt x="0" y="0"/>
                </a:moveTo>
                <a:lnTo>
                  <a:pt x="863492" y="0"/>
                </a:lnTo>
                <a:lnTo>
                  <a:pt x="863492" y="863492"/>
                </a:lnTo>
                <a:lnTo>
                  <a:pt x="0" y="8634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578972" y="3351232"/>
            <a:ext cx="4103304" cy="4041755"/>
          </a:xfrm>
          <a:custGeom>
            <a:avLst/>
            <a:gdLst/>
            <a:ahLst/>
            <a:cxnLst/>
            <a:rect r="r" b="b" t="t" l="l"/>
            <a:pathLst>
              <a:path h="4041755" w="4103304">
                <a:moveTo>
                  <a:pt x="0" y="0"/>
                </a:moveTo>
                <a:lnTo>
                  <a:pt x="4103304" y="0"/>
                </a:lnTo>
                <a:lnTo>
                  <a:pt x="4103304" y="4041754"/>
                </a:lnTo>
                <a:lnTo>
                  <a:pt x="0" y="40417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49416" y="539883"/>
            <a:ext cx="15589167" cy="1936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33"/>
              </a:lnSpc>
              <a:spcBef>
                <a:spcPct val="0"/>
              </a:spcBef>
            </a:pPr>
            <a:r>
              <a:rPr lang="en-US" sz="5524" strike="noStrike" u="none">
                <a:solidFill>
                  <a:srgbClr val="373434"/>
                </a:solidFill>
                <a:latin typeface="Monument Bold"/>
                <a:ea typeface="Monument Bold"/>
                <a:cs typeface="Monument Bold"/>
                <a:sym typeface="Monument Bold"/>
              </a:rPr>
              <a:t>METODOLOGIA DE TRABAJO ÁGIL:</a:t>
            </a:r>
          </a:p>
          <a:p>
            <a:pPr algn="ctr" marL="0" indent="0" lvl="0">
              <a:lnSpc>
                <a:spcPts val="7733"/>
              </a:lnSpc>
              <a:spcBef>
                <a:spcPct val="0"/>
              </a:spcBef>
            </a:pPr>
            <a:r>
              <a:rPr lang="en-US" sz="5524" strike="noStrike" u="none">
                <a:solidFill>
                  <a:srgbClr val="373434"/>
                </a:solidFill>
                <a:latin typeface="Monument Bold"/>
                <a:ea typeface="Monument Bold"/>
                <a:cs typeface="Monument Bold"/>
                <a:sym typeface="Monument Bold"/>
              </a:rPr>
              <a:t> SCRUM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23770" y="3518573"/>
            <a:ext cx="8868593" cy="47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2"/>
              </a:lnSpc>
              <a:spcBef>
                <a:spcPct val="0"/>
              </a:spcBef>
            </a:pPr>
            <a:r>
              <a:rPr lang="en-US" sz="2480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D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efinición de Product Backlog e historias de us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uari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 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pri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ritaria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23770" y="5276859"/>
            <a:ext cx="8868593" cy="47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2"/>
              </a:lnSpc>
              <a:spcBef>
                <a:spcPct val="0"/>
              </a:spcBef>
            </a:pPr>
            <a:r>
              <a:rPr lang="en-US" sz="2480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Des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rrollo 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ter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tivo 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c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n i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n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cr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e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ment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s 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d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e so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f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t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wa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r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e verific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ble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23770" y="7004127"/>
            <a:ext cx="8868593" cy="47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2"/>
              </a:lnSpc>
              <a:spcBef>
                <a:spcPct val="0"/>
              </a:spcBef>
            </a:pPr>
            <a:r>
              <a:rPr lang="en-US" sz="2480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Evaluac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ón p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e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riódica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d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e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fun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cional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idad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es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c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on r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e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t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r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l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imen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tac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ón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23770" y="2758060"/>
            <a:ext cx="9755201" cy="514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4"/>
              </a:lnSpc>
              <a:spcBef>
                <a:spcPct val="0"/>
              </a:spcBef>
            </a:pPr>
            <a:r>
              <a:rPr lang="en-US" sz="2974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01-SPRINT PLANNING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23770" y="4615252"/>
            <a:ext cx="9268707" cy="514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4"/>
              </a:lnSpc>
              <a:spcBef>
                <a:spcPct val="0"/>
              </a:spcBef>
            </a:pPr>
            <a:r>
              <a:rPr lang="en-US" sz="2974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0</a:t>
            </a: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2-</a:t>
            </a: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SPR</a:t>
            </a: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IN</a:t>
            </a: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TS</a:t>
            </a: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 DE </a:t>
            </a: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2 S</a:t>
            </a: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E</a:t>
            </a: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MANA</a:t>
            </a: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23770" y="6472443"/>
            <a:ext cx="7825999" cy="519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4"/>
              </a:lnSpc>
              <a:spcBef>
                <a:spcPct val="0"/>
              </a:spcBef>
            </a:pPr>
            <a:r>
              <a:rPr lang="en-US" sz="2974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0</a:t>
            </a: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3-</a:t>
            </a: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SPRINT</a:t>
            </a: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 </a:t>
            </a: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R</a:t>
            </a: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E</a:t>
            </a: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VI</a:t>
            </a: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E</a:t>
            </a: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23770" y="8592445"/>
            <a:ext cx="8868593" cy="47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2"/>
              </a:lnSpc>
              <a:spcBef>
                <a:spcPct val="0"/>
              </a:spcBef>
            </a:pPr>
            <a:r>
              <a:rPr lang="en-US" sz="2480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Rep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os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t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r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io públi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c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 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c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n 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contro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l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es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t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ri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c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t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d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e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ve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r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s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o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n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es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y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 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co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mmit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s</a:t>
            </a:r>
            <a:r>
              <a:rPr lang="en-US" sz="2480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23770" y="8023966"/>
            <a:ext cx="8966745" cy="514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4"/>
              </a:lnSpc>
              <a:spcBef>
                <a:spcPct val="0"/>
              </a:spcBef>
            </a:pPr>
            <a:r>
              <a:rPr lang="en-US" sz="2974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0</a:t>
            </a: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4-</a:t>
            </a: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GITHUB</a:t>
            </a: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 </a:t>
            </a: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TRAZ</a:t>
            </a: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A</a:t>
            </a: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B</a:t>
            </a:r>
            <a:r>
              <a:rPr lang="en-US" sz="2974" strike="noStrike" u="none">
                <a:solidFill>
                  <a:srgbClr val="373434"/>
                </a:solidFill>
                <a:latin typeface="Monument"/>
                <a:ea typeface="Monument"/>
                <a:cs typeface="Monument"/>
                <a:sym typeface="Monument"/>
              </a:rPr>
              <a:t>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96690" y="-2086837"/>
            <a:ext cx="8075295" cy="8229600"/>
          </a:xfrm>
          <a:custGeom>
            <a:avLst/>
            <a:gdLst/>
            <a:ahLst/>
            <a:cxnLst/>
            <a:rect r="r" b="b" t="t" l="l"/>
            <a:pathLst>
              <a:path h="8229600" w="8075295">
                <a:moveTo>
                  <a:pt x="0" y="0"/>
                </a:moveTo>
                <a:lnTo>
                  <a:pt x="8075295" y="0"/>
                </a:lnTo>
                <a:lnTo>
                  <a:pt x="807529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44715" y="4756910"/>
            <a:ext cx="8075295" cy="8229600"/>
          </a:xfrm>
          <a:custGeom>
            <a:avLst/>
            <a:gdLst/>
            <a:ahLst/>
            <a:cxnLst/>
            <a:rect r="r" b="b" t="t" l="l"/>
            <a:pathLst>
              <a:path h="8229600" w="8075295">
                <a:moveTo>
                  <a:pt x="0" y="0"/>
                </a:moveTo>
                <a:lnTo>
                  <a:pt x="8075295" y="0"/>
                </a:lnTo>
                <a:lnTo>
                  <a:pt x="807529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40730" y="0"/>
            <a:ext cx="11530575" cy="12389590"/>
          </a:xfrm>
          <a:custGeom>
            <a:avLst/>
            <a:gdLst/>
            <a:ahLst/>
            <a:cxnLst/>
            <a:rect r="r" b="b" t="t" l="l"/>
            <a:pathLst>
              <a:path h="12389590" w="11530575">
                <a:moveTo>
                  <a:pt x="0" y="0"/>
                </a:moveTo>
                <a:lnTo>
                  <a:pt x="11530576" y="0"/>
                </a:lnTo>
                <a:lnTo>
                  <a:pt x="11530576" y="12389590"/>
                </a:lnTo>
                <a:lnTo>
                  <a:pt x="0" y="123895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90" t="0" r="-359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-3314515"/>
            <a:ext cx="11530575" cy="11559474"/>
          </a:xfrm>
          <a:custGeom>
            <a:avLst/>
            <a:gdLst/>
            <a:ahLst/>
            <a:cxnLst/>
            <a:rect r="r" b="b" t="t" l="l"/>
            <a:pathLst>
              <a:path h="11559474" w="11530575">
                <a:moveTo>
                  <a:pt x="0" y="0"/>
                </a:moveTo>
                <a:lnTo>
                  <a:pt x="11530575" y="0"/>
                </a:lnTo>
                <a:lnTo>
                  <a:pt x="11530575" y="11559474"/>
                </a:lnTo>
                <a:lnTo>
                  <a:pt x="0" y="11559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4767050" y="477098"/>
          <a:ext cx="23888700" cy="6784943"/>
        </p:xfrm>
        <a:graphic>
          <a:graphicData uri="http://schemas.openxmlformats.org/presentationml/2006/ole">
            <p:oleObj imgW="28663900" imgH="115570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27475" y="3731692"/>
            <a:ext cx="4903106" cy="1936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33"/>
              </a:lnSpc>
              <a:spcBef>
                <a:spcPct val="0"/>
              </a:spcBef>
            </a:pPr>
            <a:r>
              <a:rPr lang="en-US" sz="5524">
                <a:solidFill>
                  <a:srgbClr val="373434"/>
                </a:solidFill>
                <a:latin typeface="Monument Bold"/>
                <a:ea typeface="Monument Bold"/>
                <a:cs typeface="Monument Bold"/>
                <a:sym typeface="Monument Bold"/>
              </a:rPr>
              <a:t>CARTA GANTT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16147" y="2938613"/>
            <a:ext cx="10380376" cy="10406392"/>
          </a:xfrm>
          <a:custGeom>
            <a:avLst/>
            <a:gdLst/>
            <a:ahLst/>
            <a:cxnLst/>
            <a:rect r="r" b="b" t="t" l="l"/>
            <a:pathLst>
              <a:path h="10406392" w="10380376">
                <a:moveTo>
                  <a:pt x="0" y="0"/>
                </a:moveTo>
                <a:lnTo>
                  <a:pt x="10380376" y="0"/>
                </a:lnTo>
                <a:lnTo>
                  <a:pt x="10380376" y="10406392"/>
                </a:lnTo>
                <a:lnTo>
                  <a:pt x="0" y="10406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96408" y="787299"/>
            <a:ext cx="863492" cy="863492"/>
          </a:xfrm>
          <a:custGeom>
            <a:avLst/>
            <a:gdLst/>
            <a:ahLst/>
            <a:cxnLst/>
            <a:rect r="r" b="b" t="t" l="l"/>
            <a:pathLst>
              <a:path h="863492" w="863492">
                <a:moveTo>
                  <a:pt x="0" y="0"/>
                </a:moveTo>
                <a:lnTo>
                  <a:pt x="863492" y="0"/>
                </a:lnTo>
                <a:lnTo>
                  <a:pt x="863492" y="863493"/>
                </a:lnTo>
                <a:lnTo>
                  <a:pt x="0" y="8634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41802" y="-2884692"/>
            <a:ext cx="10459122" cy="10658977"/>
          </a:xfrm>
          <a:custGeom>
            <a:avLst/>
            <a:gdLst/>
            <a:ahLst/>
            <a:cxnLst/>
            <a:rect r="r" b="b" t="t" l="l"/>
            <a:pathLst>
              <a:path h="10658977" w="10459122">
                <a:moveTo>
                  <a:pt x="0" y="0"/>
                </a:moveTo>
                <a:lnTo>
                  <a:pt x="10459122" y="0"/>
                </a:lnTo>
                <a:lnTo>
                  <a:pt x="10459122" y="10658977"/>
                </a:lnTo>
                <a:lnTo>
                  <a:pt x="0" y="10658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8999"/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3414471" y="3133096"/>
          <a:ext cx="11459057" cy="5308646"/>
        </p:xfrm>
        <a:graphic>
          <a:graphicData uri="http://schemas.openxmlformats.org/drawingml/2006/table">
            <a:tbl>
              <a:tblPr/>
              <a:tblGrid>
                <a:gridCol w="3819686"/>
                <a:gridCol w="3819686"/>
                <a:gridCol w="3819686"/>
              </a:tblGrid>
              <a:tr h="12105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Fase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Fase 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Rotis Sans Serif Bold"/>
                          <a:ea typeface="Rotis Sans Serif Bold"/>
                          <a:cs typeface="Rotis Sans Serif Bold"/>
                          <a:sym typeface="Rotis Sans Serif Bold"/>
                        </a:rPr>
                        <a:t>Fase 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</a:tr>
              <a:tr h="4098070">
                <a:tc>
                  <a:txBody>
                    <a:bodyPr anchor="t" rtlCol="false"/>
                    <a:lstStyle/>
                    <a:p>
                      <a:pPr algn="l" marL="431799" indent="-215899" lvl="1">
                        <a:lnSpc>
                          <a:spcPts val="27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Documento de Requerimientos y Diseño Inicial (1.5)</a:t>
                      </a:r>
                      <a:endParaRPr lang="en-US" sz="1100"/>
                    </a:p>
                    <a:p>
                      <a:pPr algn="l" marL="431799" indent="-215899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Presentación del Proyecto (PPT)</a:t>
                      </a:r>
                    </a:p>
                    <a:p>
                      <a:pPr algn="l" marL="431799" indent="-215899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Autoevaluaciones y diario  de reflexion individual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431799" indent="-215899" lvl="1">
                        <a:lnSpc>
                          <a:spcPts val="27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Base de Datos Relacional (modelo yscripts)</a:t>
                      </a:r>
                      <a:endParaRPr lang="en-US" sz="1100"/>
                    </a:p>
                    <a:p>
                      <a:pPr algn="l" marL="431799" indent="-215899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MVP Funcional de CampusFood</a:t>
                      </a:r>
                    </a:p>
                    <a:p>
                      <a:pPr algn="l" marL="431799" indent="-215899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Evidencias individuales (diario dereflexión)</a:t>
                      </a:r>
                    </a:p>
                    <a:p>
                      <a:pPr algn="l" marL="431799" indent="-215899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Carta Gantt y planificacion final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431799" indent="-215899" lvl="1">
                        <a:lnSpc>
                          <a:spcPts val="27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Rotis Sans Serif"/>
                          <a:ea typeface="Rotis Sans Serif"/>
                          <a:cs typeface="Rotis Sans Serif"/>
                          <a:sym typeface="Rotis Sans Serif"/>
                        </a:rPr>
                        <a:t>Aplicacion Funcional Terminada: app web, panel de administracion, compra rapida y votaciones.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364543" y="1038225"/>
            <a:ext cx="5558914" cy="80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16"/>
              </a:lnSpc>
            </a:pPr>
            <a:r>
              <a:rPr lang="en-US" sz="5352">
                <a:solidFill>
                  <a:srgbClr val="373434"/>
                </a:solidFill>
                <a:latin typeface="Monument Bold"/>
                <a:ea typeface="Monument Bold"/>
                <a:cs typeface="Monument Bold"/>
                <a:sym typeface="Monument Bold"/>
              </a:rPr>
              <a:t>EVIDENCIAS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54608" y="239968"/>
            <a:ext cx="10380376" cy="10406392"/>
          </a:xfrm>
          <a:custGeom>
            <a:avLst/>
            <a:gdLst/>
            <a:ahLst/>
            <a:cxnLst/>
            <a:rect r="r" b="b" t="t" l="l"/>
            <a:pathLst>
              <a:path h="10406392" w="10380376">
                <a:moveTo>
                  <a:pt x="0" y="0"/>
                </a:moveTo>
                <a:lnTo>
                  <a:pt x="10380376" y="0"/>
                </a:lnTo>
                <a:lnTo>
                  <a:pt x="10380376" y="10406393"/>
                </a:lnTo>
                <a:lnTo>
                  <a:pt x="0" y="104063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04624" y="616167"/>
            <a:ext cx="10380376" cy="10406392"/>
          </a:xfrm>
          <a:custGeom>
            <a:avLst/>
            <a:gdLst/>
            <a:ahLst/>
            <a:cxnLst/>
            <a:rect r="r" b="b" t="t" l="l"/>
            <a:pathLst>
              <a:path h="10406392" w="10380376">
                <a:moveTo>
                  <a:pt x="0" y="0"/>
                </a:moveTo>
                <a:lnTo>
                  <a:pt x="10380377" y="0"/>
                </a:lnTo>
                <a:lnTo>
                  <a:pt x="10380377" y="10406392"/>
                </a:lnTo>
                <a:lnTo>
                  <a:pt x="0" y="10406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65834" y="2393508"/>
            <a:ext cx="6399479" cy="6881160"/>
          </a:xfrm>
          <a:custGeom>
            <a:avLst/>
            <a:gdLst/>
            <a:ahLst/>
            <a:cxnLst/>
            <a:rect r="r" b="b" t="t" l="l"/>
            <a:pathLst>
              <a:path h="6881160" w="6399479">
                <a:moveTo>
                  <a:pt x="0" y="0"/>
                </a:moveTo>
                <a:lnTo>
                  <a:pt x="6399480" y="0"/>
                </a:lnTo>
                <a:lnTo>
                  <a:pt x="6399480" y="6881160"/>
                </a:lnTo>
                <a:lnTo>
                  <a:pt x="0" y="6881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77189" y="2372637"/>
            <a:ext cx="6410910" cy="6893452"/>
          </a:xfrm>
          <a:custGeom>
            <a:avLst/>
            <a:gdLst/>
            <a:ahLst/>
            <a:cxnLst/>
            <a:rect r="r" b="b" t="t" l="l"/>
            <a:pathLst>
              <a:path h="6893452" w="6410910">
                <a:moveTo>
                  <a:pt x="0" y="0"/>
                </a:moveTo>
                <a:lnTo>
                  <a:pt x="6410910" y="0"/>
                </a:lnTo>
                <a:lnTo>
                  <a:pt x="6410910" y="6893452"/>
                </a:lnTo>
                <a:lnTo>
                  <a:pt x="0" y="68934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518860" y="3297263"/>
            <a:ext cx="5711611" cy="5499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</a:p>
          <a:p>
            <a:pPr algn="l" marL="0" indent="0" lvl="0">
              <a:lnSpc>
                <a:spcPts val="3915"/>
              </a:lnSpc>
              <a:spcBef>
                <a:spcPct val="0"/>
              </a:spcBef>
            </a:pPr>
            <a:r>
              <a:rPr lang="en-US" b="true" sz="2796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Riesgos y mitigación</a:t>
            </a:r>
          </a:p>
          <a:p>
            <a:pPr algn="l" marL="0" indent="0" lvl="0">
              <a:lnSpc>
                <a:spcPts val="3915"/>
              </a:lnSpc>
              <a:spcBef>
                <a:spcPct val="0"/>
              </a:spcBef>
            </a:pPr>
          </a:p>
          <a:p>
            <a:pPr algn="l" marL="603812" indent="-301906" lvl="1">
              <a:lnSpc>
                <a:spcPts val="3915"/>
              </a:lnSpc>
              <a:buFont typeface="Arial"/>
              <a:buChar char="•"/>
            </a:pPr>
            <a:r>
              <a:rPr lang="en-US" sz="2796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Disponibilidad limitada del personal del casino→ entrevistas y observacion cuando sea posible</a:t>
            </a:r>
          </a:p>
          <a:p>
            <a:pPr algn="l" marL="603812" indent="-301906" lvl="1">
              <a:lnSpc>
                <a:spcPts val="3915"/>
              </a:lnSpc>
              <a:buFont typeface="Arial"/>
              <a:buChar char="•"/>
            </a:pPr>
            <a:r>
              <a:rPr lang="en-US" sz="2796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Informacion no disponible→trabajar inicialmente con datos simulados.</a:t>
            </a:r>
          </a:p>
          <a:p>
            <a:pPr algn="l" marL="603812" indent="-301906" lvl="1">
              <a:lnSpc>
                <a:spcPts val="3915"/>
              </a:lnSpc>
              <a:buFont typeface="Arial"/>
              <a:buChar char="•"/>
            </a:pPr>
            <a:r>
              <a:rPr lang="en-US" sz="2796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Tiempo limitado del semestre→priorizar catalogo y compra rapida.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93157" y="1217811"/>
            <a:ext cx="7901685" cy="955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33"/>
              </a:lnSpc>
              <a:spcBef>
                <a:spcPct val="0"/>
              </a:spcBef>
            </a:pPr>
            <a:r>
              <a:rPr lang="en-US" sz="5524">
                <a:solidFill>
                  <a:srgbClr val="373434"/>
                </a:solidFill>
                <a:latin typeface="Monument Bold"/>
                <a:ea typeface="Monument Bold"/>
                <a:cs typeface="Monument Bold"/>
                <a:sym typeface="Monument Bold"/>
              </a:rPr>
              <a:t>FACTIBILIDAD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38221" y="3248368"/>
            <a:ext cx="5708440" cy="5499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  <a:spcBef>
                <a:spcPct val="0"/>
              </a:spcBef>
            </a:pPr>
          </a:p>
          <a:p>
            <a:pPr algn="l">
              <a:lnSpc>
                <a:spcPts val="3915"/>
              </a:lnSpc>
              <a:spcBef>
                <a:spcPct val="0"/>
              </a:spcBef>
            </a:pPr>
            <a:r>
              <a:rPr lang="en-US" b="true" sz="2796" strike="noStrike" u="none">
                <a:solidFill>
                  <a:srgbClr val="373434"/>
                </a:solidFill>
                <a:latin typeface="Rotis Sans Serif Bold"/>
                <a:ea typeface="Rotis Sans Serif Bold"/>
                <a:cs typeface="Rotis Sans Serif Bold"/>
                <a:sym typeface="Rotis Sans Serif Bold"/>
              </a:rPr>
              <a:t>Factores a favor</a:t>
            </a:r>
          </a:p>
          <a:p>
            <a:pPr algn="l">
              <a:lnSpc>
                <a:spcPts val="3915"/>
              </a:lnSpc>
              <a:spcBef>
                <a:spcPct val="0"/>
              </a:spcBef>
            </a:pPr>
          </a:p>
          <a:p>
            <a:pPr algn="l" marL="603812" indent="-301906" lvl="1">
              <a:lnSpc>
                <a:spcPts val="3915"/>
              </a:lnSpc>
              <a:spcBef>
                <a:spcPct val="0"/>
              </a:spcBef>
              <a:buFont typeface="Arial"/>
              <a:buChar char="•"/>
            </a:pPr>
            <a:r>
              <a:rPr lang="en-US" sz="2796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Problema observable directamente y conversacion con usuarios.</a:t>
            </a:r>
          </a:p>
          <a:p>
            <a:pPr algn="l" marL="603812" indent="-301906" lvl="1">
              <a:lnSpc>
                <a:spcPts val="3915"/>
              </a:lnSpc>
              <a:spcBef>
                <a:spcPct val="0"/>
              </a:spcBef>
              <a:buFont typeface="Arial"/>
              <a:buChar char="•"/>
            </a:pPr>
            <a:r>
              <a:rPr lang="en-US" sz="2796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Proyecto de software: no requiere materiales ni equipamiento fisico extra.</a:t>
            </a:r>
          </a:p>
          <a:p>
            <a:pPr algn="l" marL="603812" indent="-301906" lvl="1">
              <a:lnSpc>
                <a:spcPts val="3915"/>
              </a:lnSpc>
              <a:spcBef>
                <a:spcPct val="0"/>
              </a:spcBef>
              <a:buFont typeface="Arial"/>
              <a:buChar char="•"/>
            </a:pPr>
            <a:r>
              <a:rPr lang="en-US" sz="2796" strike="noStrike" u="none">
                <a:solidFill>
                  <a:srgbClr val="373434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Desarrollo por etapas: MVP con catálogo y compra rapida primero, votaciones despues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14439" y="-185989"/>
            <a:ext cx="10459122" cy="10658977"/>
          </a:xfrm>
          <a:custGeom>
            <a:avLst/>
            <a:gdLst/>
            <a:ahLst/>
            <a:cxnLst/>
            <a:rect r="r" b="b" t="t" l="l"/>
            <a:pathLst>
              <a:path h="10658977" w="10459122">
                <a:moveTo>
                  <a:pt x="0" y="0"/>
                </a:moveTo>
                <a:lnTo>
                  <a:pt x="10459122" y="0"/>
                </a:lnTo>
                <a:lnTo>
                  <a:pt x="10459122" y="10658978"/>
                </a:lnTo>
                <a:lnTo>
                  <a:pt x="0" y="106589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39911" y="4505021"/>
            <a:ext cx="8166871" cy="8187339"/>
          </a:xfrm>
          <a:custGeom>
            <a:avLst/>
            <a:gdLst/>
            <a:ahLst/>
            <a:cxnLst/>
            <a:rect r="r" b="b" t="t" l="l"/>
            <a:pathLst>
              <a:path h="8187339" w="8166871">
                <a:moveTo>
                  <a:pt x="0" y="0"/>
                </a:moveTo>
                <a:lnTo>
                  <a:pt x="8166870" y="0"/>
                </a:lnTo>
                <a:lnTo>
                  <a:pt x="8166870" y="8187339"/>
                </a:lnTo>
                <a:lnTo>
                  <a:pt x="0" y="81873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79568" y="-2077496"/>
            <a:ext cx="8166871" cy="8187339"/>
          </a:xfrm>
          <a:custGeom>
            <a:avLst/>
            <a:gdLst/>
            <a:ahLst/>
            <a:cxnLst/>
            <a:rect r="r" b="b" t="t" l="l"/>
            <a:pathLst>
              <a:path h="8187339" w="8166871">
                <a:moveTo>
                  <a:pt x="0" y="0"/>
                </a:moveTo>
                <a:lnTo>
                  <a:pt x="8166870" y="0"/>
                </a:lnTo>
                <a:lnTo>
                  <a:pt x="8166870" y="8187339"/>
                </a:lnTo>
                <a:lnTo>
                  <a:pt x="0" y="81873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71384" y="2916392"/>
            <a:ext cx="10745231" cy="4324956"/>
          </a:xfrm>
          <a:custGeom>
            <a:avLst/>
            <a:gdLst/>
            <a:ahLst/>
            <a:cxnLst/>
            <a:rect r="r" b="b" t="t" l="l"/>
            <a:pathLst>
              <a:path h="4324956" w="10745231">
                <a:moveTo>
                  <a:pt x="0" y="0"/>
                </a:moveTo>
                <a:lnTo>
                  <a:pt x="10745232" y="0"/>
                </a:lnTo>
                <a:lnTo>
                  <a:pt x="10745232" y="4324956"/>
                </a:lnTo>
                <a:lnTo>
                  <a:pt x="0" y="43249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46734" y="4452190"/>
            <a:ext cx="10594532" cy="175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674"/>
              </a:lnSpc>
              <a:spcBef>
                <a:spcPct val="0"/>
              </a:spcBef>
            </a:pPr>
            <a:r>
              <a:rPr lang="en-US" sz="14910" spc="-462">
                <a:solidFill>
                  <a:srgbClr val="373434"/>
                </a:solidFill>
                <a:latin typeface="Baloo"/>
                <a:ea typeface="Baloo"/>
                <a:cs typeface="Baloo"/>
                <a:sym typeface="Baloo"/>
              </a:rPr>
              <a:t>¡GRACIAS!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DAHT0Uy1w40</dc:identifier>
  <dcterms:modified xsi:type="dcterms:W3CDTF">2011-08-01T06:04:30Z</dcterms:modified>
  <cp:revision>1</cp:revision>
  <dc:title>CampusFood fase1</dc:title>
</cp:coreProperties>
</file>